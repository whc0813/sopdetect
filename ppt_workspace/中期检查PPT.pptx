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基于视觉分析的标准操作流程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管理与视频评估系统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566160"/>
            <a:ext cx="27432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749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毕业设计中期检查报告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汇报人：王鸿灿   指导教师：XXX   2026 年 4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 系统整体架构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53896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270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 项目进度总览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83664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5681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 已实现功能 — 用户与权限管理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313432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8658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 已实现功能 — SOP 创建与管理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163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 已实现功能 — 三阶段视频评估算法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72968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46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 已实现功能 — 异步评估任务队列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0972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 已实现功能 — 历史记录与人工复核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453896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52704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 系统界面截图展示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883664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956816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 接口设计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2313432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38658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 数据库设计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8163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 存在的问题与改进措施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3172968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246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 下一阶段计划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54880" y="3602736"/>
            <a:ext cx="4023360" cy="9144"/>
          </a:xfrm>
          <a:prstGeom prst="rect">
            <a:avLst/>
          </a:prstGeom>
          <a:solidFill>
            <a:srgbClr val="DDDDDD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 系统整体架构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14400" y="1143000"/>
            <a:ext cx="7315200" cy="731520"/>
          </a:xfrm>
          <a:prstGeom prst="rect">
            <a:avLst/>
          </a:prstGeom>
          <a:solidFill>
            <a:srgbClr val="EBF1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14300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浏览器前端   Vue 3 + Element Plus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731520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14884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API 服务   FastAPI + Uvicorn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154680"/>
            <a:ext cx="7315200" cy="731520"/>
          </a:xfrm>
          <a:prstGeom prst="rect">
            <a:avLst/>
          </a:prstGeom>
          <a:solidFill>
            <a:srgbClr val="FFFBE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154680"/>
            <a:ext cx="7040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 Worker   异步任务队列  ·  三阶段评估 Pipeline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160520"/>
            <a:ext cx="3474720" cy="82296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160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多模态大模型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兼容 / DashScope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4160520"/>
            <a:ext cx="3474720" cy="822960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41605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7F1D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本地媒体存储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1508760"/>
            <a:ext cx="0" cy="73152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514600"/>
            <a:ext cx="0" cy="73152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3520440"/>
            <a:ext cx="0" cy="73152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1261872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 · httpx · sessionStorage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2267712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 v2 · PyMySQL · OpenCV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273552"/>
            <a:ext cx="411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多线程轮询 · JSON Schema 约束输出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 项目进度总览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1615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&amp; 技术选型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54533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2025.11–12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280160"/>
            <a:ext cx="5120640" cy="31089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3108960" y="1280160"/>
            <a:ext cx="5120640" cy="31089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8321040" y="128016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89280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后端核心 API 与数据库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222199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2025.12–2026.01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1956816"/>
            <a:ext cx="5120640" cy="31089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108960" y="1956816"/>
            <a:ext cx="5120640" cy="31089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95681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569464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三阶段评估算法实现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2898648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2026.01–03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08960" y="2633472"/>
            <a:ext cx="5120640" cy="31089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3108960" y="2633472"/>
            <a:ext cx="5120640" cy="31089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8321040" y="263347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前端界面开发与联调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3575304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2026.02–03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08960" y="3310128"/>
            <a:ext cx="5120640" cy="31089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3108960" y="3310128"/>
            <a:ext cx="4608576" cy="310896"/>
          </a:xfrm>
          <a:prstGeom prst="rect">
            <a:avLst/>
          </a:prstGeom>
          <a:solidFill>
            <a:srgbClr val="C47A00"/>
          </a:solidFill>
          <a:ln/>
        </p:spPr>
      </p:sp>
      <p:sp>
        <p:nvSpPr>
          <p:cNvPr id="26" name="Text 24"/>
          <p:cNvSpPr/>
          <p:nvPr/>
        </p:nvSpPr>
        <p:spPr>
          <a:xfrm>
            <a:off x="8321040" y="331012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92277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评测过程可视化增强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25196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2026.04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08960" y="3986784"/>
            <a:ext cx="5120640" cy="31089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0" name="Shape 28"/>
          <p:cNvSpPr/>
          <p:nvPr/>
        </p:nvSpPr>
        <p:spPr>
          <a:xfrm>
            <a:off x="3108960" y="3986784"/>
            <a:ext cx="1536192" cy="310896"/>
          </a:xfrm>
          <a:prstGeom prst="rect">
            <a:avLst/>
          </a:prstGeom>
          <a:solidFill>
            <a:srgbClr val="C47A00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98678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599432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系统测试 &amp; 性能优化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4928616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2026.04–05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108960" y="4663440"/>
            <a:ext cx="5120640" cy="31089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5" name="Shape 33"/>
          <p:cNvSpPr/>
          <p:nvPr/>
        </p:nvSpPr>
        <p:spPr>
          <a:xfrm>
            <a:off x="3108960" y="4663440"/>
            <a:ext cx="512064" cy="310896"/>
          </a:xfrm>
          <a:prstGeom prst="rect">
            <a:avLst/>
          </a:prstGeom>
          <a:solidFill>
            <a:srgbClr val="C47A00"/>
          </a:solidFill>
          <a:ln/>
        </p:spPr>
      </p:sp>
      <p:sp>
        <p:nvSpPr>
          <p:cNvPr id="36" name="Text 34"/>
          <p:cNvSpPr/>
          <p:nvPr/>
        </p:nvSpPr>
        <p:spPr>
          <a:xfrm>
            <a:off x="8321040" y="466344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27608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论文撰写 &amp; 最终答辩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560527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2026.05–06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108960" y="5340096"/>
            <a:ext cx="5120640" cy="31089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0" name="Shape 38"/>
          <p:cNvSpPr/>
          <p:nvPr/>
        </p:nvSpPr>
        <p:spPr>
          <a:xfrm>
            <a:off x="3108960" y="5340096"/>
            <a:ext cx="256032" cy="310896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41" name="Text 39"/>
          <p:cNvSpPr/>
          <p:nvPr/>
        </p:nvSpPr>
        <p:spPr>
          <a:xfrm>
            <a:off x="8321040" y="534009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5%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615123" y="1051560"/>
            <a:ext cx="0" cy="4736592"/>
          </a:xfrm>
          <a:prstGeom prst="line">
            <a:avLst/>
          </a:prstGeom>
          <a:noFill/>
          <a:ln w="12700">
            <a:solidFill>
              <a:srgbClr val="D0220A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7386523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02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 已实现功能 — 用户与权限管理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2240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22402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用户注册 / 登录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用户名 + 密码注册登录，后端返回 Bearer Token；前端用 sessionStorage 管理会话，支持跨标签页同步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4114800" cy="2240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88720"/>
            <a:ext cx="54864" cy="22402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单活跃会话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每账号仅允许一个活跃 session；新登录自动踢出旧会话，防止并发冲突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4114800" cy="2240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11880"/>
            <a:ext cx="54864" cy="22402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双角色权限分离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 / user 两种角色；前端路由守卫 + 后端接口鉴权双层校验，禁止越权访问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611880"/>
            <a:ext cx="4114800" cy="2240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611880"/>
            <a:ext cx="54864" cy="22402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749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管理员用户管理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420624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管理员可查看全部用户列表、启用 / 禁用账号，操作实时生效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 已实现功能 — SOP 创建与管理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269748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23444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CRUD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1208" y="1645920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创建、查看、删除 SOP；步骤支持必要 / 可选 / 条件三种类型及前置依赖关系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9748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23444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工作流视频自动分割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10128" y="1645920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上传整段示范视频后，AI 自动预估各步骤时间范围，按区间抽帧并构建参考包（摘要、ROI、关键时刻）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143000"/>
            <a:ext cx="269748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9048" y="123444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单步示范视频替换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99048" y="1645920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管理员可对指定步骤单独替换示范视频，系统重新抽帧并更新参考包，无需重建整个 SOP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880360"/>
            <a:ext cx="269748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97180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手动时间戳覆盖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1208" y="3383280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支持手动修正步骤时间段，覆盖 AI 自动分割结果，适用于精细化场景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2880360"/>
            <a:ext cx="269748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97180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评分权重与惩罚配置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10128" y="3383280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SOP 可配置步骤权重及 penaltyConfig 惩罚规则，评估完成后自动加权计算综合得分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2880360"/>
            <a:ext cx="2697480" cy="15544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99048" y="2971800"/>
            <a:ext cx="2478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配置管理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099048" y="3383280"/>
            <a:ext cx="24780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管理员可在前端配置 AI 模型参数（Key、BaseURL、模型名、fps、temperature 等），实时生效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 已实现功能 — 三阶段视频评估算法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95528" y="1188720"/>
            <a:ext cx="1737360" cy="1005840"/>
          </a:xfrm>
          <a:prstGeom prst="rect">
            <a:avLst/>
          </a:prstGeom>
          <a:solidFill>
            <a:srgbClr val="EBF1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618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16642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时序分段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19385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Temporal Segmentation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51176" y="1691640"/>
            <a:ext cx="16459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34056" y="1188720"/>
            <a:ext cx="173736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34056" y="12618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34056" y="16642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批量逐步评估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34056" y="19385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Per-Step Evaluation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89704" y="1691640"/>
            <a:ext cx="16459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1188720"/>
            <a:ext cx="1737360" cy="1005840"/>
          </a:xfrm>
          <a:prstGeom prst="rect">
            <a:avLst/>
          </a:prstGeom>
          <a:solidFill>
            <a:srgbClr val="FFFBE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12618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672584" y="16642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全局校验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72584" y="19385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Validation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28232" y="1691640"/>
            <a:ext cx="16459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11112" y="1188720"/>
            <a:ext cx="1737360" cy="10058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11112" y="12618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11112" y="166420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后处理评分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11112" y="1938528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Post-process Scoring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5720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2834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以可配置 fps 从用户执行视频采样帧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单次调用多模态大模型，输出各步骤起止帧索引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调用失败时自动 fallback：均匀切分视频作为缺省分段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9184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2834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整段视频 + 所有步骤描述 + Stage 1 时序上下文，一次调用完成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Schema 约束输出格式：是否完成、问题类型、描述、置信度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进度实时写回 evaluation_job 表，前端可轮询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648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3 + 后处理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28346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全局校验步骤顺序与前置条件约束，结果可覆盖 Stage 2 单步判断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penaltyConfig 与步骤权重，计算加权综合分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输出：综合评分 / 通过状态 / 各步骤明细 + 问题说明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 已实现功能 — 异步评估任务队列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09244" y="1325880"/>
            <a:ext cx="1417320" cy="43891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854964" y="13716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提交任务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35708" y="1545336"/>
            <a:ext cx="914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6292" y="1325880"/>
            <a:ext cx="1417320" cy="43891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2382012" y="13716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Worker 领取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62756" y="1545336"/>
            <a:ext cx="914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63340" y="1325880"/>
            <a:ext cx="1417320" cy="43891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3909060" y="13716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执行评估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89804" y="1545336"/>
            <a:ext cx="914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0388" y="1325880"/>
            <a:ext cx="1417320" cy="43891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7" name="Text 15"/>
          <p:cNvSpPr/>
          <p:nvPr/>
        </p:nvSpPr>
        <p:spPr>
          <a:xfrm>
            <a:off x="5436108" y="13716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结果持久化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6852" y="1545336"/>
            <a:ext cx="91440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7436" y="1325880"/>
            <a:ext cx="1417320" cy="43891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0" name="Text 18"/>
          <p:cNvSpPr/>
          <p:nvPr/>
        </p:nvSpPr>
        <p:spPr>
          <a:xfrm>
            <a:off x="6963156" y="137160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失败重试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244" y="2221992"/>
            <a:ext cx="1417320" cy="41148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" y="2331720"/>
            <a:ext cx="1271016" cy="3895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前端调用 POST /api/sops/{id}/evaluation-jobs，视频与元数据入库，返回 job_id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36292" y="2221992"/>
            <a:ext cx="1417320" cy="41148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09444" y="2331720"/>
            <a:ext cx="1271016" cy="3895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 Worker 线程每 2 s 轮询，原子化领取任务，避免重复执行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863340" y="2221992"/>
            <a:ext cx="1417320" cy="41148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36492" y="2331720"/>
            <a:ext cx="1271016" cy="3895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构造媒体 data URL → 依次执行 Stage 1 / 2 / 3 → 进度写回数据库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90388" y="2221992"/>
            <a:ext cx="1417320" cy="41148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3540" y="2331720"/>
            <a:ext cx="1271016" cy="3895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评估完成后写入 sop_executions / execution_step_results / execution_issues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17436" y="2221992"/>
            <a:ext cx="1417320" cy="411480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0588" y="2331720"/>
            <a:ext cx="1271016" cy="3895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/retry 手动重试；任务状态枚举：pending → running → completed / failed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 已实现功能 — 历史记录与人工复核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114800" cy="2240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54864" cy="22402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多条件筛选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支持关键词、AI 评估状态、人工复核状态多维度过滤，结果按时间排序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4114800" cy="2240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188720"/>
            <a:ext cx="54864" cy="22402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步骤级详情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178308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历史详情页展示综合分、通过状态、每个步骤的结论、问题类型和问题描述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4114800" cy="2240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11880"/>
            <a:ext cx="54864" cy="22402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49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管理员可标注复核结论（通过 / 不通过 / 需改进）及备注，形成质检闭环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611880"/>
            <a:ext cx="4114800" cy="22402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3611880"/>
            <a:ext cx="54864" cy="224028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7490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420624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管理员统计面板提供总评估次数、通过率、各 SOP 评估量分布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 系统界面截图展示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6908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截图区域 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0273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- SOP 列表与创建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97280"/>
            <a:ext cx="406908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148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截图区域 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360273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- 评估历史与复核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950208"/>
            <a:ext cx="406908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500176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截图区域 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 - 提交评估任务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3950208"/>
            <a:ext cx="4069080" cy="246888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5001768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截图区域 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7720" y="645566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 - 评估结果详情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 接口设计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69080" cy="2697480"/>
          </a:xfrm>
          <a:prstGeom prst="rect">
            <a:avLst/>
          </a:prstGeom>
          <a:solidFill>
            <a:srgbClr val="EBF1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70432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1499616"/>
            <a:ext cx="3849624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572768"/>
            <a:ext cx="38496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          用户登录，返回 Bearer Token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       用户注册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/api/auth/me             获取当前登录用户信息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4069080" cy="2697480"/>
          </a:xfrm>
          <a:prstGeom prst="rect">
            <a:avLst/>
          </a:prstGeom>
          <a:solidFill>
            <a:srgbClr val="F0FD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1170432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管理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27448" y="1499616"/>
            <a:ext cx="3849624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4" name="Text 12"/>
          <p:cNvSpPr/>
          <p:nvPr/>
        </p:nvSpPr>
        <p:spPr>
          <a:xfrm>
            <a:off x="4727448" y="1572768"/>
            <a:ext cx="38496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GET/POST /api/sops            SOP 列表查询 / 创建新 SOP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  /api/sops/{id}       删除指定 SOP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/api/sops/{id}/segment-video   上传整段示范视频并触发 AI 分割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/api/sops/{id}/steps/{sid}/replace-video   替换单步示范视频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/api/sops/{id}/manual-segmentation-override   手动覆盖时间段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4069080" cy="2697480"/>
          </a:xfrm>
          <a:prstGeom prst="rect">
            <a:avLst/>
          </a:prstGeom>
          <a:solidFill>
            <a:srgbClr val="FFFBE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005072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评估任务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334256"/>
            <a:ext cx="3849624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4407408"/>
            <a:ext cx="38496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/api/sops/{id}/evaluation-jobs    提交异步评估任务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/api/evaluation-jobs              查询评估任务列表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/api/evaluation-jobs/{job_id}     查询单个任务状态与进度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/api/evaluation-jobs/{job_id}/retry   重试失败任务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3931920"/>
            <a:ext cx="4069080" cy="269748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27448" y="4005072"/>
            <a:ext cx="38496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 &amp; 统计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27448" y="4334256"/>
            <a:ext cx="3849624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2" name="Text 20"/>
          <p:cNvSpPr/>
          <p:nvPr/>
        </p:nvSpPr>
        <p:spPr>
          <a:xfrm>
            <a:off x="4727448" y="4407408"/>
            <a:ext cx="384962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/api/executions          历史记录列表（支持多条件筛选）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/api/executions/{id}     历史详情（步骤级结果）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 /api/executions/{id}/review   管理员提交人工复核</a:t>
            </a:r>
            <a:endParaRPr lang="en-US" sz="950" dirty="0"/>
          </a:p>
          <a:p>
            <a:pPr>
              <a:spcAft>
                <a:spcPts val="300"/>
              </a:spcAft>
            </a:pPr>
            <a:r>
              <a:rPr lang="en-US" sz="95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/api/stats               管理员统计数据（通过率、评估量等）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 数据库设计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2697480" cy="2377440"/>
          </a:xfrm>
          <a:prstGeom prst="rect">
            <a:avLst/>
          </a:prstGeom>
          <a:solidFill>
            <a:srgbClr val="EBF1F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用户与认证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499616"/>
            <a:ext cx="25146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727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用户基本信息、角色、状态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1671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user_login_sessions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423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活跃会话 Token（单活跃策略）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7614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ai_configs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017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模型配置（Key 加密存储）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97480" cy="2377440"/>
          </a:xfrm>
          <a:prstGeom prst="rect">
            <a:avLst/>
          </a:prstGeom>
          <a:solidFill>
            <a:srgbClr val="F0FD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17043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主数据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1499616"/>
            <a:ext cx="25146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5727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SOP 元数据（名称、描述、惩罚配置）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91840" y="21671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sop_steps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423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步骤详情（类型、权重、前置、描述）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91840" y="27614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sop_step_prerequisites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91840" y="3017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步骤前置依赖关系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1097280"/>
            <a:ext cx="2697480" cy="2377440"/>
          </a:xfrm>
          <a:prstGeom prst="rect">
            <a:avLst/>
          </a:prstGeom>
          <a:solidFill>
            <a:srgbClr val="FFFBE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80760" y="117043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媒体与参考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1499616"/>
            <a:ext cx="25146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8" name="Text 26"/>
          <p:cNvSpPr/>
          <p:nvPr/>
        </p:nvSpPr>
        <p:spPr>
          <a:xfrm>
            <a:off x="6080760" y="15727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media_files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80760" y="18288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媒体文件索引与本地路径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080760" y="216712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sop_step_keyframes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4231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步骤参考关键帧及 ROI 区域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80760" y="276148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sop_step_substeps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017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步骤关键时刻（AI 生成摘要）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3566160"/>
            <a:ext cx="2697480" cy="237744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63931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评估任务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968496"/>
            <a:ext cx="25146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0416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evaluation_jobs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2976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异步任务状态与进度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46360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evaluation_job_logs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48920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任务执行日志（阶段级）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0" y="3566160"/>
            <a:ext cx="2697480" cy="2377440"/>
          </a:xfrm>
          <a:prstGeom prst="rect">
            <a:avLst/>
          </a:prstGeom>
          <a:solidFill>
            <a:srgbClr val="FF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63931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F1D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执行结果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91840" y="3968496"/>
            <a:ext cx="25146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44" name="Text 42"/>
          <p:cNvSpPr/>
          <p:nvPr/>
        </p:nvSpPr>
        <p:spPr>
          <a:xfrm>
            <a:off x="3291840" y="40416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sop_executions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91840" y="42976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整体执行记录（综合分、通过状态）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291840" y="463600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execution_step_results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91840" y="48920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步骤级评估结论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291840" y="523036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execution_issues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91840" y="5486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步骤级问题明细与描述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989320" y="3566160"/>
            <a:ext cx="2697480" cy="2377440"/>
          </a:xfrm>
          <a:prstGeom prst="rect">
            <a:avLst/>
          </a:prstGeom>
          <a:solidFill>
            <a:srgbClr val="F7FEE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3639312"/>
            <a:ext cx="2514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2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人工复核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080760" y="3968496"/>
            <a:ext cx="2514600" cy="9144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53" name="Text 51"/>
          <p:cNvSpPr/>
          <p:nvPr/>
        </p:nvSpPr>
        <p:spPr>
          <a:xfrm>
            <a:off x="6080760" y="4041648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manual_reviews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080760" y="429768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复核结论、备注、复核人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 存在的问题与改进措施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051560"/>
            <a:ext cx="36576" cy="896112"/>
          </a:xfrm>
          <a:prstGeom prst="rect">
            <a:avLst/>
          </a:prstGeom>
          <a:solidFill>
            <a:srgbClr val="D0220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097280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389888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2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60120" y="108813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时序分段准确率依赖帧率与视频质量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39903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Stage 1 按固定 fps 抽帧，动作切换不明显时难以准确判断步骤边界，导致分段区间偏移。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1399032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  引入自适应帧率策略；在 Prompt 中加入帧差异提示；为步骤设定时长约束作为后验规则。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84248"/>
            <a:ext cx="8229600" cy="89611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984248"/>
            <a:ext cx="36576" cy="896112"/>
          </a:xfrm>
          <a:prstGeom prst="rect">
            <a:avLst/>
          </a:prstGeom>
          <a:solidFill>
            <a:srgbClr val="D0220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029968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02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2322576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2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60120" y="202082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批量评估 Prompt 过长时可能被模型截断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33172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Stage 2 将所有步骤与完整视频帧合并为单一请求，步骤多 / 视频长时逼近上下文窗口限制。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331720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  实现动态分批策略自动拆分；对相邻相似帧去重；用步骤摘要替换原始描述压缩 Token。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916936"/>
            <a:ext cx="822960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2916936"/>
            <a:ext cx="36576" cy="896112"/>
          </a:xfrm>
          <a:prstGeom prst="rect">
            <a:avLst/>
          </a:prstGeom>
          <a:solidFill>
            <a:srgbClr val="C47A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962656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3255264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60120" y="295351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工作流视频自动分割结果不稳定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" y="326440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AI 输出存在随机性，相同视频多次分割可能得到差异较大的区间，参考包一致性较低。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3264408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  分割阶段降低 temperature；多次采样取众数；提供管理员拖拽微调界面。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49624"/>
            <a:ext cx="8229600" cy="89611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849624"/>
            <a:ext cx="36576" cy="896112"/>
          </a:xfrm>
          <a:prstGeom prst="rect">
            <a:avLst/>
          </a:prstGeom>
          <a:solidFill>
            <a:srgbClr val="C47A00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895344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P4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187952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60120" y="38862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评测过程对用户不透明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4197096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历史详情页仅展示最终评分，三阶段中间推理过程对用户不可见，降低了系统可信度。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4197096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  历史详情增加三阶段折叠面板；时间轴展示每步被定位到的时间段。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82312"/>
            <a:ext cx="822960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4782312"/>
            <a:ext cx="36576" cy="896112"/>
          </a:xfrm>
          <a:prstGeom prst="rect">
            <a:avLst/>
          </a:prstGeom>
          <a:solidFill>
            <a:srgbClr val="C47A0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828032"/>
            <a:ext cx="347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48640" y="51206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7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60120" y="481888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评估结论缺少视频时间戳定位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60120" y="5129784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 步骤结论没有关联到视频的具体时间段，用户无法快速定位问题位置，复核成本高。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3440" y="5129784"/>
            <a:ext cx="39319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  将 Stage 1 分段结果关联到步骤结论；EvalTimeline 支持点击跳转到对应时间点。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0120" y="7955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问题描述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63440" y="79552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改进措施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 下一阶段工作计划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4069080" cy="24231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406908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143000"/>
            <a:ext cx="3849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月（当前）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554480"/>
            <a:ext cx="38496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完成评测过程可视化：历史详情增加三阶段展示面板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EvalTimeline 支持步骤时间段跳转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修复时序分段 fallback 策略已知缺陷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4069080" cy="24231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143000"/>
            <a:ext cx="406908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4727448" y="1143000"/>
            <a:ext cx="3849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月上旬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27448" y="1554480"/>
            <a:ext cx="38496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实现动态分批评估，解决长视频 Prompt 过长问题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关键帧相似度去重模块，降低 Token 成本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条件步骤结构化配置模板与预览测试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4069080" cy="24231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749040"/>
            <a:ext cx="406908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749040"/>
            <a:ext cx="3849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月中旬–下旬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160520"/>
            <a:ext cx="38496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端到端全场景压力测试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优化评估响应时延，目标 P90 &lt; 60 s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前端界面打磨与错误提示优化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17720" y="3749040"/>
            <a:ext cx="4069080" cy="2423160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3749040"/>
            <a:ext cx="4069080" cy="34747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3749040"/>
            <a:ext cx="38496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27448" y="4160520"/>
            <a:ext cx="384962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撰写毕业论文：系统设计、算法描述、实验数据分析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准备答辩演示材料与演示视频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代码整理与文档归档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371600" cy="27432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10312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系统核心功能已基本完成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2487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用户权限管理、SOP 管理、三阶段评估算法、异步任务队列、历史记录与人工复核均已实现并联调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1546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技术难点已有成熟方案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353872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 Pipeline 有效解耦分段、评估、校验三个子问题，具备良好扩展性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2062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问题与改进方向明确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05840" y="459028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5 个核心问题，均有具体改进措施，按优先级有序推进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5257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56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52578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后续工作可按期完成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564184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4–5 月功能完善与测试，6 月完成论文撰写，时间节点清晰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感谢聆听，请批评指正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2026-04-12T13:55:52Z</dcterms:created>
  <dcterms:modified xsi:type="dcterms:W3CDTF">2026-04-12T13:55:52Z</dcterms:modified>
</cp:coreProperties>
</file>