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77" r:id="rId13"/>
    <p:sldId id="264" r:id="rId14"/>
    <p:sldId id="275" r:id="rId15"/>
    <p:sldId id="276" r:id="rId16"/>
    <p:sldId id="265" r:id="rId17"/>
    <p:sldId id="278" r:id="rId18"/>
    <p:sldId id="279" r:id="rId19"/>
    <p:sldId id="266" r:id="rId20"/>
    <p:sldId id="267" r:id="rId21"/>
    <p:sldId id="268" r:id="rId22"/>
    <p:sldId id="280" r:id="rId23"/>
    <p:sldId id="281" r:id="rId24"/>
    <p:sldId id="269" r:id="rId25"/>
    <p:sldId id="282" r:id="rId26"/>
    <p:sldId id="270" r:id="rId27"/>
    <p:sldId id="271" r:id="rId28"/>
    <p:sldId id="272" r:id="rId29"/>
    <p:sldId id="274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8" Type="http://schemas.openxmlformats.org/officeDocument/2006/relationships/notesSlide" Target="../notesSlides/notesSlide10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30.xml"/><Relationship Id="rId15" Type="http://schemas.openxmlformats.org/officeDocument/2006/relationships/tags" Target="../tags/tag29.xml"/><Relationship Id="rId14" Type="http://schemas.openxmlformats.org/officeDocument/2006/relationships/tags" Target="../tags/tag28.xml"/><Relationship Id="rId13" Type="http://schemas.openxmlformats.org/officeDocument/2006/relationships/tags" Target="../tags/tag27.xml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tags" Target="../tags/tag15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7" Type="http://schemas.openxmlformats.org/officeDocument/2006/relationships/notesSlide" Target="../notesSlides/notesSlide17.xml"/><Relationship Id="rId26" Type="http://schemas.openxmlformats.org/officeDocument/2006/relationships/slideLayout" Target="../slideLayouts/slideLayout1.xml"/><Relationship Id="rId25" Type="http://schemas.openxmlformats.org/officeDocument/2006/relationships/tags" Target="../tags/tag55.xml"/><Relationship Id="rId24" Type="http://schemas.openxmlformats.org/officeDocument/2006/relationships/tags" Target="../tags/tag54.xml"/><Relationship Id="rId23" Type="http://schemas.openxmlformats.org/officeDocument/2006/relationships/tags" Target="../tags/tag53.xml"/><Relationship Id="rId22" Type="http://schemas.openxmlformats.org/officeDocument/2006/relationships/tags" Target="../tags/tag52.xml"/><Relationship Id="rId21" Type="http://schemas.openxmlformats.org/officeDocument/2006/relationships/tags" Target="../tags/tag51.xml"/><Relationship Id="rId20" Type="http://schemas.openxmlformats.org/officeDocument/2006/relationships/tags" Target="../tags/tag50.xml"/><Relationship Id="rId2" Type="http://schemas.openxmlformats.org/officeDocument/2006/relationships/tags" Target="../tags/tag32.xml"/><Relationship Id="rId19" Type="http://schemas.openxmlformats.org/officeDocument/2006/relationships/tags" Target="../tags/tag49.xml"/><Relationship Id="rId18" Type="http://schemas.openxmlformats.org/officeDocument/2006/relationships/tags" Target="../tags/tag48.xml"/><Relationship Id="rId17" Type="http://schemas.openxmlformats.org/officeDocument/2006/relationships/tags" Target="../tags/tag47.xml"/><Relationship Id="rId16" Type="http://schemas.openxmlformats.org/officeDocument/2006/relationships/tags" Target="../tags/tag46.xml"/><Relationship Id="rId15" Type="http://schemas.openxmlformats.org/officeDocument/2006/relationships/tags" Target="../tags/tag45.xml"/><Relationship Id="rId14" Type="http://schemas.openxmlformats.org/officeDocument/2006/relationships/tags" Target="../tags/tag44.xml"/><Relationship Id="rId13" Type="http://schemas.openxmlformats.org/officeDocument/2006/relationships/tags" Target="../tags/tag43.xml"/><Relationship Id="rId12" Type="http://schemas.openxmlformats.org/officeDocument/2006/relationships/tags" Target="../tags/tag42.xml"/><Relationship Id="rId11" Type="http://schemas.openxmlformats.org/officeDocument/2006/relationships/tags" Target="../tags/tag41.xml"/><Relationship Id="rId10" Type="http://schemas.openxmlformats.org/officeDocument/2006/relationships/tags" Target="../tags/tag40.xml"/><Relationship Id="rId1" Type="http://schemas.openxmlformats.org/officeDocument/2006/relationships/tags" Target="../tags/tag3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25880"/>
            <a:ext cx="80467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基于视觉分析的标准操作流程管理系统</a:t>
            </a:r>
            <a:endParaRPr lang="en-US" sz="3200" b="1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41248" y="2487168"/>
            <a:ext cx="3200400" cy="0"/>
          </a:xfrm>
          <a:prstGeom prst="line">
            <a:avLst/>
          </a:prstGeom>
          <a:noFill/>
          <a:ln w="25400">
            <a:solidFill>
              <a:srgbClr val="2F6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3017520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汇报人：</a:t>
            </a:r>
            <a:r>
              <a:rPr lang="zh-CN" altLang="en-US" sz="16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吴恒成</a:t>
            </a:r>
            <a:endParaRPr lang="zh-CN" altLang="en-US" sz="1600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41248" y="3456432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指导教师</a:t>
            </a:r>
            <a:r>
              <a:rPr lang="en-US" sz="16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</a:t>
            </a:r>
            <a:r>
              <a:rPr lang="zh-CN" altLang="en-US" sz="16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杨中国</a:t>
            </a:r>
            <a:endParaRPr lang="zh-CN" altLang="en-US" sz="1600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833" y="4334129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日期：2026-04-17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13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6"/>
          <p:cNvSpPr/>
          <p:nvPr/>
        </p:nvSpPr>
        <p:spPr>
          <a:xfrm>
            <a:off x="822833" y="3895344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班级：智能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贯通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)24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1463040"/>
            <a:ext cx="10012680" cy="512064"/>
          </a:xfrm>
          <a:prstGeom prst="roundRect">
            <a:avLst>
              <a:gd name="adj" fmla="val 5357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1"/>
            </p:custDataLst>
          </p:nvPr>
        </p:nvSpPr>
        <p:spPr>
          <a:xfrm>
            <a:off x="1042416" y="1554480"/>
            <a:ext cx="3404311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b="1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Text 6"/>
          <p:cNvSpPr/>
          <p:nvPr>
            <p:custDataLst>
              <p:tags r:id="rId2"/>
            </p:custDataLst>
          </p:nvPr>
        </p:nvSpPr>
        <p:spPr>
          <a:xfrm>
            <a:off x="1415720" y="1609217"/>
            <a:ext cx="6007608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C6B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当前阶段成果</a:t>
            </a:r>
            <a:endParaRPr lang="en-US" sz="1600" dirty="0">
              <a:solidFill>
                <a:srgbClr val="5C6B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14400" y="2249424"/>
            <a:ext cx="10012680" cy="512064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1042416" y="2340864"/>
            <a:ext cx="3404311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b="1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Text 9"/>
          <p:cNvSpPr/>
          <p:nvPr>
            <p:custDataLst>
              <p:tags r:id="rId4"/>
            </p:custDataLst>
          </p:nvPr>
        </p:nvSpPr>
        <p:spPr>
          <a:xfrm>
            <a:off x="1415720" y="2367661"/>
            <a:ext cx="6007608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C6B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系统设计：需求、架构、流程</a:t>
            </a:r>
            <a:endParaRPr lang="en-US" sz="1600" dirty="0">
              <a:solidFill>
                <a:srgbClr val="5C6B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14400" y="3035808"/>
            <a:ext cx="10012680" cy="512064"/>
          </a:xfrm>
          <a:prstGeom prst="roundRect">
            <a:avLst>
              <a:gd name="adj" fmla="val 5357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5"/>
            </p:custDataLst>
          </p:nvPr>
        </p:nvSpPr>
        <p:spPr>
          <a:xfrm>
            <a:off x="1042416" y="3127248"/>
            <a:ext cx="3404311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b="1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4" name="Text 12"/>
          <p:cNvSpPr/>
          <p:nvPr>
            <p:custDataLst>
              <p:tags r:id="rId6"/>
            </p:custDataLst>
          </p:nvPr>
        </p:nvSpPr>
        <p:spPr>
          <a:xfrm>
            <a:off x="1415720" y="3180715"/>
            <a:ext cx="6007608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C6B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已实现功能与系统界面展示</a:t>
            </a:r>
            <a:endParaRPr lang="en-US" sz="1600" dirty="0">
              <a:solidFill>
                <a:srgbClr val="5C6B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14400" y="3822192"/>
            <a:ext cx="10012680" cy="512064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6" name="Text 14"/>
          <p:cNvSpPr/>
          <p:nvPr>
            <p:custDataLst>
              <p:tags r:id="rId7"/>
            </p:custDataLst>
          </p:nvPr>
        </p:nvSpPr>
        <p:spPr>
          <a:xfrm>
            <a:off x="1042416" y="3913632"/>
            <a:ext cx="3404311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b="1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Text 15"/>
          <p:cNvSpPr/>
          <p:nvPr>
            <p:custDataLst>
              <p:tags r:id="rId8"/>
            </p:custDataLst>
          </p:nvPr>
        </p:nvSpPr>
        <p:spPr>
          <a:xfrm>
            <a:off x="1415720" y="3966464"/>
            <a:ext cx="6007608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C6B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接口设计与数据库设计</a:t>
            </a:r>
            <a:endParaRPr lang="en-US" sz="1600" dirty="0">
              <a:solidFill>
                <a:srgbClr val="5C6B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14400" y="4608576"/>
            <a:ext cx="10012680" cy="512064"/>
          </a:xfrm>
          <a:prstGeom prst="roundRect">
            <a:avLst>
              <a:gd name="adj" fmla="val 5357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9" name="Text 17"/>
          <p:cNvSpPr/>
          <p:nvPr>
            <p:custDataLst>
              <p:tags r:id="rId9"/>
            </p:custDataLst>
          </p:nvPr>
        </p:nvSpPr>
        <p:spPr>
          <a:xfrm>
            <a:off x="1042416" y="4700016"/>
            <a:ext cx="3404311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b="1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0" name="Text 18"/>
          <p:cNvSpPr/>
          <p:nvPr>
            <p:custDataLst>
              <p:tags r:id="rId10"/>
            </p:custDataLst>
          </p:nvPr>
        </p:nvSpPr>
        <p:spPr>
          <a:xfrm>
            <a:off x="1415720" y="4752213"/>
            <a:ext cx="6007608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C6B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当前核心问题与下一步计划</a:t>
            </a:r>
            <a:endParaRPr lang="en-US" sz="1600" dirty="0">
              <a:solidFill>
                <a:srgbClr val="5C6B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13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当前阶段成果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54710" y="1497965"/>
            <a:ext cx="8933815" cy="2012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13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当前阶段已经完成的工作</a:t>
            </a:r>
            <a:r>
              <a:rPr lang="zh-CN" altLang="en-US" b="1" dirty="0">
                <a:solidFill>
                  <a:srgbClr val="113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</a:t>
            </a:r>
            <a:endParaRPr lang="zh-CN" altLang="en-US" b="1" dirty="0">
              <a:solidFill>
                <a:srgbClr val="113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Text 15"/>
          <p:cNvSpPr/>
          <p:nvPr>
            <p:custDataLst>
              <p:tags r:id="rId1"/>
            </p:custDataLst>
          </p:nvPr>
        </p:nvSpPr>
        <p:spPr>
          <a:xfrm>
            <a:off x="854710" y="2132330"/>
            <a:ext cx="8307705" cy="5854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完成前后端分离架构搭建，管理端与用户端已可运行</a:t>
            </a:r>
            <a:endParaRPr lang="en-US" sz="2000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9" name="Text 17"/>
          <p:cNvSpPr/>
          <p:nvPr>
            <p:custDataLst>
              <p:tags r:id="rId2"/>
            </p:custDataLst>
          </p:nvPr>
        </p:nvSpPr>
        <p:spPr>
          <a:xfrm>
            <a:off x="854710" y="2736215"/>
            <a:ext cx="8307705" cy="5854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完成用户登录、角色权限、SOP 管理与视频上传</a:t>
            </a:r>
            <a:endParaRPr lang="en-US" sz="2000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1" name="Text 19"/>
          <p:cNvSpPr/>
          <p:nvPr>
            <p:custDataLst>
              <p:tags r:id="rId3"/>
            </p:custDataLst>
          </p:nvPr>
        </p:nvSpPr>
        <p:spPr>
          <a:xfrm>
            <a:off x="854710" y="3339465"/>
            <a:ext cx="8307705" cy="5854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完成示范视频预处理、多阶段视频评测与结果后处理</a:t>
            </a:r>
            <a:endParaRPr lang="en-US" sz="2000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3" name="Text 21"/>
          <p:cNvSpPr/>
          <p:nvPr>
            <p:custDataLst>
              <p:tags r:id="rId4"/>
            </p:custDataLst>
          </p:nvPr>
        </p:nvSpPr>
        <p:spPr>
          <a:xfrm>
            <a:off x="854710" y="3942715"/>
            <a:ext cx="8307705" cy="5854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完成异步任务、历史记录、人工复核和统计分析功能</a:t>
            </a:r>
            <a:endParaRPr lang="en-US" sz="2000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13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900" dirty="0"/>
          </a:p>
        </p:txBody>
      </p:sp>
      <p:sp>
        <p:nvSpPr>
          <p:cNvPr id="27" name="文本框 26"/>
          <p:cNvSpPr txBox="1"/>
          <p:nvPr/>
        </p:nvSpPr>
        <p:spPr>
          <a:xfrm>
            <a:off x="885190" y="2955925"/>
            <a:ext cx="3985895" cy="377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系统需求概览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6B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系统主要围绕管理员和普通用户两类角色展开设计。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118872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5619" y="1363218"/>
            <a:ext cx="46908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13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管理员侧需求</a:t>
            </a:r>
            <a:endParaRPr lang="en-US" b="1" dirty="0">
              <a:solidFill>
                <a:srgbClr val="113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15619" y="1931162"/>
            <a:ext cx="4361688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创建 SOP，配置步骤说明、步骤类型、权重和前置依赖</a:t>
            </a:r>
            <a:endParaRPr lang="en-US" sz="1600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15619" y="2661539"/>
            <a:ext cx="4361688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上传完整示范视频，生成步骤参考信息</a:t>
            </a:r>
            <a:endParaRPr lang="en-US" sz="1600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15619" y="3421126"/>
            <a:ext cx="4361688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查看执行记录并进行人工复核</a:t>
            </a:r>
            <a:endParaRPr lang="en-US" sz="1600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15619" y="4188968"/>
            <a:ext cx="4361688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查看统计分析结果并维护系统配置</a:t>
            </a:r>
            <a:endParaRPr lang="en-US" sz="1600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126480" y="118872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72784" y="1363218"/>
            <a:ext cx="46908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13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普通用户侧需求</a:t>
            </a:r>
            <a:endParaRPr lang="en-US" b="1" dirty="0">
              <a:solidFill>
                <a:srgbClr val="113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72784" y="1931162"/>
            <a:ext cx="4361688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查看待执行 SOP 和步骤说明</a:t>
            </a:r>
            <a:endParaRPr lang="en-US" sz="1600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272784" y="2662174"/>
            <a:ext cx="4361688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上传完整执行视频并提交评测任务</a:t>
            </a:r>
            <a:endParaRPr lang="en-US" sz="1600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272784" y="3421126"/>
            <a:ext cx="4361688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查看任务进度、评测结果和问题说明</a:t>
            </a:r>
            <a:endParaRPr lang="en-US" sz="1600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272784" y="4188968"/>
            <a:ext cx="4361688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查看历史记录与人工复核结论</a:t>
            </a:r>
            <a:endParaRPr lang="en-US" sz="1600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13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系统总体架构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6B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采用前后端分离 + 异步 Worker + 多模态模型调用的整体架构。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164592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" y="1755648"/>
            <a:ext cx="181051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3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前端层</a:t>
            </a:r>
            <a:endParaRPr lang="en-US" sz="1400" b="1" dirty="0">
              <a:solidFill>
                <a:srgbClr val="113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51560" y="1938528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B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Vue 3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5C6B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管理员端 / 用户端</a:t>
            </a:r>
            <a:endParaRPr lang="en-US" sz="1400" dirty="0">
              <a:solidFill>
                <a:srgbClr val="5C6B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383280" y="164592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9584" y="1755648"/>
            <a:ext cx="208483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3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接口层</a:t>
            </a:r>
            <a:endParaRPr lang="en-US" sz="1400" b="1" dirty="0">
              <a:solidFill>
                <a:srgbClr val="113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584448" y="1938528"/>
            <a:ext cx="19659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B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FastAPI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5C6B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鉴权 / 业务 API</a:t>
            </a:r>
            <a:endParaRPr lang="en-US" sz="1400" dirty="0">
              <a:solidFill>
                <a:srgbClr val="5C6B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236208" y="164592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2512" y="1755648"/>
            <a:ext cx="208483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3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处理层</a:t>
            </a:r>
            <a:endParaRPr lang="en-US" sz="1400" b="1" dirty="0">
              <a:solidFill>
                <a:srgbClr val="113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37376" y="1938528"/>
            <a:ext cx="19659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B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Evaluation Worker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5C6B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异步任务处理</a:t>
            </a:r>
            <a:endParaRPr lang="en-US" sz="1400" dirty="0">
              <a:solidFill>
                <a:srgbClr val="5C6B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098280" y="16459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44584" y="1755648"/>
            <a:ext cx="17190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3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模型层</a:t>
            </a:r>
            <a:endParaRPr lang="en-US" sz="1400" b="1" dirty="0">
              <a:solidFill>
                <a:srgbClr val="113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281160" y="1938528"/>
            <a:ext cx="164592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B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多模态大模型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5C6B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视频理解与判定</a:t>
            </a:r>
            <a:endParaRPr lang="en-US" sz="1400" dirty="0">
              <a:solidFill>
                <a:srgbClr val="5C6B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971800" y="2103120"/>
            <a:ext cx="411480" cy="0"/>
          </a:xfrm>
          <a:prstGeom prst="line">
            <a:avLst/>
          </a:prstGeom>
          <a:noFill/>
          <a:ln w="17780">
            <a:solidFill>
              <a:srgbClr val="2F6B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52160" y="2103120"/>
            <a:ext cx="384048" cy="0"/>
          </a:xfrm>
          <a:prstGeom prst="line">
            <a:avLst/>
          </a:prstGeom>
          <a:noFill/>
          <a:ln w="17780">
            <a:solidFill>
              <a:srgbClr val="2F6B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05088" y="2103120"/>
            <a:ext cx="347472" cy="0"/>
          </a:xfrm>
          <a:prstGeom prst="line">
            <a:avLst/>
          </a:prstGeom>
          <a:noFill/>
          <a:ln w="17780">
            <a:solidFill>
              <a:srgbClr val="2F6B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34440" y="3246120"/>
            <a:ext cx="4343400" cy="1874520"/>
          </a:xfrm>
          <a:prstGeom prst="roundRect">
            <a:avLst>
              <a:gd name="adj" fmla="val 3902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80744" y="3355848"/>
            <a:ext cx="40507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3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数据与媒体</a:t>
            </a:r>
            <a:endParaRPr lang="en-US" sz="1400" b="1" dirty="0">
              <a:solidFill>
                <a:srgbClr val="113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444752" y="3730752"/>
            <a:ext cx="91440" cy="91440"/>
          </a:xfrm>
          <a:prstGeom prst="ellipse">
            <a:avLst/>
          </a:prstGeom>
          <a:solidFill>
            <a:srgbClr val="2C8C7A"/>
          </a:solidFill>
          <a:ln w="12700">
            <a:solidFill>
              <a:srgbClr val="2C8C7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09344" y="3657600"/>
            <a:ext cx="3721608" cy="4206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MySQL 存储用户、SOP、任务与结果数据</a:t>
            </a:r>
            <a:endParaRPr lang="en-US" sz="1400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444752" y="4169664"/>
            <a:ext cx="91440" cy="91440"/>
          </a:xfrm>
          <a:prstGeom prst="ellipse">
            <a:avLst/>
          </a:prstGeom>
          <a:solidFill>
            <a:srgbClr val="2C8C7A"/>
          </a:solidFill>
          <a:ln w="12700">
            <a:solidFill>
              <a:srgbClr val="2C8C7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09344" y="4096512"/>
            <a:ext cx="3721608" cy="4206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本地文件系统存储示范视频、执行视频和关键帧</a:t>
            </a:r>
            <a:endParaRPr lang="en-US" sz="1400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444752" y="4608576"/>
            <a:ext cx="91440" cy="91440"/>
          </a:xfrm>
          <a:prstGeom prst="ellipse">
            <a:avLst/>
          </a:prstGeom>
          <a:solidFill>
            <a:srgbClr val="2C8C7A"/>
          </a:solidFill>
          <a:ln w="12700">
            <a:solidFill>
              <a:srgbClr val="2C8C7A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09344" y="4535424"/>
            <a:ext cx="3721608" cy="4206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为历史查询、统计分析和复核提供支撑</a:t>
            </a:r>
            <a:endParaRPr lang="en-US" sz="1400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989320" y="3246120"/>
            <a:ext cx="4526280" cy="1874520"/>
          </a:xfrm>
          <a:prstGeom prst="roundRect">
            <a:avLst>
              <a:gd name="adj" fmla="val 3902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35624" y="3355848"/>
            <a:ext cx="42336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3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关键能力</a:t>
            </a:r>
            <a:endParaRPr lang="en-US" sz="1400" b="1" dirty="0">
              <a:solidFill>
                <a:srgbClr val="113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199632" y="3730752"/>
            <a:ext cx="91440" cy="91440"/>
          </a:xfrm>
          <a:prstGeom prst="ellipse">
            <a:avLst/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64224" y="3657600"/>
            <a:ext cx="3904488" cy="4206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OpenCV / FFmpeg：视频处理与抽帧</a:t>
            </a:r>
            <a:endParaRPr lang="en-US" sz="1400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199632" y="4169664"/>
            <a:ext cx="91440" cy="91440"/>
          </a:xfrm>
          <a:prstGeom prst="ellipse">
            <a:avLst/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64224" y="4096512"/>
            <a:ext cx="3904488" cy="4206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httpx：模型接口调用</a:t>
            </a:r>
            <a:endParaRPr lang="en-US" sz="1400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199632" y="4608576"/>
            <a:ext cx="91440" cy="91440"/>
          </a:xfrm>
          <a:prstGeom prst="ellipse">
            <a:avLst/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64224" y="4535424"/>
            <a:ext cx="3904488" cy="4206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规则后处理：权重、依赖与问题扣分</a:t>
            </a:r>
            <a:endParaRPr lang="en-US" sz="1400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13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核心业务流程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6B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形成“管理员建模—用户执行—系统评测—结果复核”的完整闭环。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1783080"/>
            <a:ext cx="1931213" cy="786384"/>
          </a:xfrm>
          <a:prstGeom prst="roundRect">
            <a:avLst>
              <a:gd name="adj" fmla="val 9302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305" y="2057527"/>
            <a:ext cx="1364285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管理员创建 SOP</a:t>
            </a:r>
            <a:endParaRPr lang="en-US" sz="1400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99893" y="2176272"/>
            <a:ext cx="146304" cy="0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46197" y="1783080"/>
            <a:ext cx="1931213" cy="786384"/>
          </a:xfrm>
          <a:prstGeom prst="roundRect">
            <a:avLst>
              <a:gd name="adj" fmla="val 9302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11627" y="1948307"/>
            <a:ext cx="1364285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上传示范视频并生成参考信息</a:t>
            </a:r>
            <a:endParaRPr lang="en-US" sz="1400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77410" y="2176272"/>
            <a:ext cx="146304" cy="0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3714" y="1783080"/>
            <a:ext cx="1931213" cy="786384"/>
          </a:xfrm>
          <a:prstGeom prst="roundRect">
            <a:avLst>
              <a:gd name="adj" fmla="val 9302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25339" y="1948307"/>
            <a:ext cx="1364285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用户上传执行视频</a:t>
            </a:r>
            <a:endParaRPr lang="en-US" sz="1400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954926" y="2176272"/>
            <a:ext cx="146304" cy="0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01230" y="1783080"/>
            <a:ext cx="1931213" cy="786384"/>
          </a:xfrm>
          <a:prstGeom prst="roundRect">
            <a:avLst>
              <a:gd name="adj" fmla="val 9302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58100" y="1947672"/>
            <a:ext cx="1364285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系统异步评测并生成结果</a:t>
            </a:r>
            <a:endParaRPr lang="en-US" sz="1400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032443" y="2176272"/>
            <a:ext cx="146304" cy="0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78747" y="1783080"/>
            <a:ext cx="1931213" cy="786384"/>
          </a:xfrm>
          <a:prstGeom prst="roundRect">
            <a:avLst>
              <a:gd name="adj" fmla="val 9302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80372" y="1947672"/>
            <a:ext cx="1364285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查看结果、统计分析与人工复核</a:t>
            </a:r>
            <a:endParaRPr lang="en-US" sz="1400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68680" y="3154680"/>
            <a:ext cx="10241280" cy="1965960"/>
          </a:xfrm>
          <a:prstGeom prst="roundRect">
            <a:avLst>
              <a:gd name="adj" fmla="val 3721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4984" y="3264408"/>
            <a:ext cx="99486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3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流程特点</a:t>
            </a:r>
            <a:endParaRPr lang="en-US" sz="1400" b="1" dirty="0">
              <a:solidFill>
                <a:srgbClr val="113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1078992" y="3685032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43584" y="3611880"/>
            <a:ext cx="9619488" cy="4937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用户一次性上传完整执行视频，减少逐步操作负担。</a:t>
            </a:r>
            <a:endParaRPr lang="en-US" sz="1400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1078992" y="4197096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43584" y="4123944"/>
            <a:ext cx="9619488" cy="4937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系统通过多阶段评测链路完成时序分析、分步判断和全局校验。</a:t>
            </a:r>
            <a:endParaRPr lang="en-US" sz="1400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1078992" y="4709160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43584" y="4636008"/>
            <a:ext cx="9619488" cy="4937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所有结果均沉淀到历史记录中，支持后续复核与统计分析。</a:t>
            </a:r>
            <a:endParaRPr lang="en-US" sz="1400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13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总体进展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10241280" cy="4526280"/>
          </a:xfrm>
          <a:prstGeom prst="roundRect">
            <a:avLst>
              <a:gd name="adj" fmla="val 1616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" y="1527048"/>
            <a:ext cx="99486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3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已实现功能总览</a:t>
            </a:r>
            <a:endParaRPr lang="en-US" sz="1400" b="1" dirty="0">
              <a:solidFill>
                <a:srgbClr val="113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78992" y="1874520"/>
            <a:ext cx="4526280" cy="512064"/>
          </a:xfrm>
          <a:prstGeom prst="roundRect">
            <a:avLst>
              <a:gd name="adj" fmla="val 5357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07008" y="1965960"/>
            <a:ext cx="1538935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 1</a:t>
            </a:r>
            <a:endParaRPr lang="en-US" sz="1400" b="1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883588" y="2057527"/>
            <a:ext cx="2715768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C6B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用户登录、注册、角色权限控制</a:t>
            </a:r>
            <a:endParaRPr lang="en-US" sz="1200" dirty="0">
              <a:solidFill>
                <a:srgbClr val="5C6B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078992" y="2679192"/>
            <a:ext cx="4526280" cy="512064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07008" y="2770632"/>
            <a:ext cx="1538935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 2</a:t>
            </a:r>
            <a:endParaRPr lang="en-US" sz="1400" b="1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883588" y="2752344"/>
            <a:ext cx="2715768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C6B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SOP 创建、步骤配置、示范视频上传与管理</a:t>
            </a:r>
            <a:endParaRPr lang="en-US" sz="1200" dirty="0">
              <a:solidFill>
                <a:srgbClr val="5C6B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078992" y="3483864"/>
            <a:ext cx="4526280" cy="512064"/>
          </a:xfrm>
          <a:prstGeom prst="roundRect">
            <a:avLst>
              <a:gd name="adj" fmla="val 5357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07008" y="3575304"/>
            <a:ext cx="1538935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 3</a:t>
            </a:r>
            <a:endParaRPr lang="en-US" sz="1400" b="1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883588" y="3688461"/>
            <a:ext cx="2715768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C6B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示范视频预处理与步骤参考信息生成</a:t>
            </a:r>
            <a:endParaRPr lang="en-US" sz="1200" dirty="0">
              <a:solidFill>
                <a:srgbClr val="5C6B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78992" y="4288536"/>
            <a:ext cx="4526280" cy="512064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07008" y="4379976"/>
            <a:ext cx="1538935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 4</a:t>
            </a:r>
            <a:endParaRPr lang="en-US" sz="1400" b="1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883588" y="4481068"/>
            <a:ext cx="2715768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C6B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用户执行视频上传与异步任务处理</a:t>
            </a:r>
            <a:endParaRPr lang="en-US" sz="1200" dirty="0">
              <a:solidFill>
                <a:srgbClr val="5C6B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971032" y="1874520"/>
            <a:ext cx="4526280" cy="512064"/>
          </a:xfrm>
          <a:prstGeom prst="roundRect">
            <a:avLst>
              <a:gd name="adj" fmla="val 5357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99048" y="1965960"/>
            <a:ext cx="1538935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 5</a:t>
            </a:r>
            <a:endParaRPr lang="en-US" sz="1400" b="1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786423" y="2052447"/>
            <a:ext cx="2715768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C6B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多阶段视频评测与规则后处理</a:t>
            </a:r>
            <a:endParaRPr lang="en-US" sz="1200" dirty="0">
              <a:solidFill>
                <a:srgbClr val="5C6B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971032" y="2679192"/>
            <a:ext cx="4526280" cy="512064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99048" y="2770632"/>
            <a:ext cx="1538935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 6</a:t>
            </a:r>
            <a:endParaRPr lang="en-US" sz="1400" b="1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786423" y="2888234"/>
            <a:ext cx="2715768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C6B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历史记录查询、人工复核与统计分析</a:t>
            </a:r>
            <a:endParaRPr lang="en-US" sz="1200" dirty="0">
              <a:solidFill>
                <a:srgbClr val="5C6B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971032" y="3483864"/>
            <a:ext cx="4526280" cy="512064"/>
          </a:xfrm>
          <a:prstGeom prst="roundRect">
            <a:avLst>
              <a:gd name="adj" fmla="val 5357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99048" y="3575304"/>
            <a:ext cx="1538935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 7</a:t>
            </a:r>
            <a:endParaRPr lang="en-US" sz="1400" b="1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786423" y="3660521"/>
            <a:ext cx="2715768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C6B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评测过程展开显示与结果可解释展示</a:t>
            </a:r>
            <a:endParaRPr lang="en-US" sz="1200" dirty="0">
              <a:solidFill>
                <a:srgbClr val="5C6B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13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已实现功能：管理员端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6B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管理员端主要负责 SOP 建模、示范视频维护与结果管理。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40690" y="1257300"/>
            <a:ext cx="3542665" cy="4343400"/>
          </a:xfrm>
          <a:prstGeom prst="roundRect">
            <a:avLst>
              <a:gd name="adj" fmla="val 1684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7375" y="1315720"/>
            <a:ext cx="3395980" cy="415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3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</a:t>
            </a:r>
            <a:r>
              <a:rPr lang="zh-CN" altLang="en-US" sz="1600" b="1" dirty="0">
                <a:solidFill>
                  <a:srgbClr val="113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实现功能</a:t>
            </a:r>
            <a:endParaRPr lang="zh-CN" altLang="en-US" sz="1600" b="1" dirty="0">
              <a:solidFill>
                <a:srgbClr val="113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58800" y="1841500"/>
            <a:ext cx="3424555" cy="5854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SOP 列表管理、新建、删除和详情查看</a:t>
            </a:r>
            <a:endParaRPr lang="en-US" sz="1400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87375" y="2378710"/>
            <a:ext cx="3373755" cy="5854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步骤类型、步骤权重、前置依赖与扣分参数配置</a:t>
            </a:r>
            <a:endParaRPr lang="en-US" sz="1400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96265" y="3090545"/>
            <a:ext cx="3415665" cy="5854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完整示范视频上传与步骤级参考信息生成</a:t>
            </a:r>
            <a:endParaRPr lang="en-US" sz="1400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96519" y="3759835"/>
            <a:ext cx="4361688" cy="5852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步骤参考信息手动覆盖和内容修正</a:t>
            </a:r>
            <a:endParaRPr lang="en-US" sz="1400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13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</a:t>
            </a:r>
            <a:endParaRPr lang="en-US" sz="900" dirty="0"/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1315720"/>
            <a:ext cx="3518535" cy="451231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7615" y="1315720"/>
            <a:ext cx="4244975" cy="40716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20" y="0"/>
            <a:ext cx="4538980" cy="450913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4980" y="2205355"/>
            <a:ext cx="4846320" cy="465264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620" y="0"/>
            <a:ext cx="5960110" cy="46272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已实现功能：用户端与评测端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6B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用户端负责执行与提交，评测端负责任务处理与结果生成。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" y="1527048"/>
            <a:ext cx="46908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3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</a:t>
            </a:r>
            <a:r>
              <a:rPr lang="zh-CN" altLang="en-US" sz="1400" b="1" dirty="0">
                <a:solidFill>
                  <a:srgbClr val="113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实现功能</a:t>
            </a:r>
            <a:endParaRPr lang="zh-CN" altLang="en-US" sz="1400" b="1" dirty="0">
              <a:solidFill>
                <a:srgbClr val="113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78992" y="1920240"/>
            <a:ext cx="91440" cy="91440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43584" y="1847088"/>
            <a:ext cx="4361688" cy="5852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查看待执行 SOP 任务及步骤说明</a:t>
            </a:r>
            <a:endParaRPr lang="en-US" sz="1600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78992" y="2523744"/>
            <a:ext cx="91440" cy="91440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3584" y="2450592"/>
            <a:ext cx="4361688" cy="5852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上传完整执行视频并创建评测任务</a:t>
            </a:r>
            <a:endParaRPr lang="en-US" sz="1600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78992" y="3127248"/>
            <a:ext cx="91440" cy="91440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3584" y="3054096"/>
            <a:ext cx="4361688" cy="5852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轮询任务进度、日志和失败原因</a:t>
            </a:r>
            <a:endParaRPr lang="en-US" sz="1600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078992" y="3730752"/>
            <a:ext cx="91440" cy="91440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43584" y="3657600"/>
            <a:ext cx="4361688" cy="5852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获取步骤级得分、问题标签与证据说明</a:t>
            </a:r>
            <a:endParaRPr lang="en-US" sz="1600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126480" y="1417320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72784" y="1527048"/>
            <a:ext cx="46908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3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评测端特点</a:t>
            </a:r>
            <a:endParaRPr lang="en-US" sz="1600" b="1" dirty="0">
              <a:solidFill>
                <a:srgbClr val="113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355080" y="1947672"/>
            <a:ext cx="91440" cy="91440"/>
          </a:xfrm>
          <a:prstGeom prst="ellipse">
            <a:avLst/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9672" y="1874520"/>
            <a:ext cx="4361688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采用时序分割—分步评测—全局校验的多阶段设计</a:t>
            </a:r>
            <a:endParaRPr lang="en-US" sz="1600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355080" y="2514600"/>
            <a:ext cx="91440" cy="91440"/>
          </a:xfrm>
          <a:prstGeom prst="ellipse">
            <a:avLst/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9672" y="2441448"/>
            <a:ext cx="4361688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结合规则后处理得到最终总分和通过结论</a:t>
            </a:r>
            <a:endParaRPr lang="en-US" sz="1600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355080" y="3081528"/>
            <a:ext cx="91440" cy="91440"/>
          </a:xfrm>
          <a:prstGeom prst="ellipse">
            <a:avLst/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9672" y="3008376"/>
            <a:ext cx="4361688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支持长视频异步处理，适合实际操作场景</a:t>
            </a:r>
            <a:endParaRPr lang="en-US" sz="1600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13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8749030" cy="419163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760" y="2566670"/>
            <a:ext cx="5775960" cy="42913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670425" cy="370649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2135" y="2502535"/>
            <a:ext cx="7472680" cy="37826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已实现功能：结果闭环与分析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6B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系统已经具备“结果记录—人工复核—统计分析”的后续管理能力。</a:t>
            </a:r>
            <a:endParaRPr lang="en-US" sz="1050" dirty="0"/>
          </a:p>
        </p:txBody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2569845" y="1417320"/>
            <a:ext cx="3246120" cy="4297680"/>
          </a:xfrm>
          <a:prstGeom prst="roundRect">
            <a:avLst>
              <a:gd name="adj" fmla="val 2254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2"/>
            </p:custDataLst>
          </p:nvPr>
        </p:nvSpPr>
        <p:spPr>
          <a:xfrm>
            <a:off x="2716149" y="1527048"/>
            <a:ext cx="295351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3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历史记录</a:t>
            </a:r>
            <a:endParaRPr lang="en-US" sz="1400" b="1" dirty="0">
              <a:solidFill>
                <a:srgbClr val="113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Shape 6"/>
          <p:cNvSpPr/>
          <p:nvPr>
            <p:custDataLst>
              <p:tags r:id="rId3"/>
            </p:custDataLst>
          </p:nvPr>
        </p:nvSpPr>
        <p:spPr>
          <a:xfrm>
            <a:off x="2780157" y="1947672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2944749" y="1874520"/>
            <a:ext cx="2651760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保存每次评测的总分、问题标签与步骤结果</a:t>
            </a:r>
            <a:endParaRPr lang="en-US" sz="1400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Shape 8"/>
          <p:cNvSpPr/>
          <p:nvPr>
            <p:custDataLst>
              <p:tags r:id="rId5"/>
            </p:custDataLst>
          </p:nvPr>
        </p:nvSpPr>
        <p:spPr>
          <a:xfrm>
            <a:off x="2780157" y="2569464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>
            <p:custDataLst>
              <p:tags r:id="rId6"/>
            </p:custDataLst>
          </p:nvPr>
        </p:nvSpPr>
        <p:spPr>
          <a:xfrm>
            <a:off x="2944749" y="2496312"/>
            <a:ext cx="2651760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支持查看执行视频和过程摘要</a:t>
            </a:r>
            <a:endParaRPr lang="en-US" sz="1400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" name="Shape 10"/>
          <p:cNvSpPr/>
          <p:nvPr>
            <p:custDataLst>
              <p:tags r:id="rId7"/>
            </p:custDataLst>
          </p:nvPr>
        </p:nvSpPr>
        <p:spPr>
          <a:xfrm>
            <a:off x="2780157" y="3191256"/>
            <a:ext cx="91440" cy="914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8"/>
            </p:custDataLst>
          </p:nvPr>
        </p:nvSpPr>
        <p:spPr>
          <a:xfrm>
            <a:off x="2944749" y="3118104"/>
            <a:ext cx="2651760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支撑个人历史查询与回看</a:t>
            </a:r>
            <a:endParaRPr lang="en-US" sz="1400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4" name="Shape 12"/>
          <p:cNvSpPr/>
          <p:nvPr>
            <p:custDataLst>
              <p:tags r:id="rId9"/>
            </p:custDataLst>
          </p:nvPr>
        </p:nvSpPr>
        <p:spPr>
          <a:xfrm>
            <a:off x="6071997" y="1417320"/>
            <a:ext cx="3246120" cy="4297680"/>
          </a:xfrm>
          <a:prstGeom prst="roundRect">
            <a:avLst>
              <a:gd name="adj" fmla="val 2254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5" name="Text 13"/>
          <p:cNvSpPr/>
          <p:nvPr>
            <p:custDataLst>
              <p:tags r:id="rId10"/>
            </p:custDataLst>
          </p:nvPr>
        </p:nvSpPr>
        <p:spPr>
          <a:xfrm>
            <a:off x="6218301" y="1527048"/>
            <a:ext cx="295351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3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人工复核</a:t>
            </a:r>
            <a:endParaRPr lang="en-US" sz="1400" b="1" dirty="0">
              <a:solidFill>
                <a:srgbClr val="113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" name="Shape 14"/>
          <p:cNvSpPr/>
          <p:nvPr>
            <p:custDataLst>
              <p:tags r:id="rId11"/>
            </p:custDataLst>
          </p:nvPr>
        </p:nvSpPr>
        <p:spPr>
          <a:xfrm>
            <a:off x="6291453" y="1947672"/>
            <a:ext cx="91440" cy="91440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>
            <p:custDataLst>
              <p:tags r:id="rId12"/>
            </p:custDataLst>
          </p:nvPr>
        </p:nvSpPr>
        <p:spPr>
          <a:xfrm>
            <a:off x="6456045" y="1874520"/>
            <a:ext cx="2651760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管理员可对结果执行通过 / 不通过 / 需整改处理</a:t>
            </a:r>
            <a:endParaRPr lang="en-US" sz="1400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8" name="Shape 16"/>
          <p:cNvSpPr/>
          <p:nvPr>
            <p:custDataLst>
              <p:tags r:id="rId13"/>
            </p:custDataLst>
          </p:nvPr>
        </p:nvSpPr>
        <p:spPr>
          <a:xfrm>
            <a:off x="6291453" y="2569464"/>
            <a:ext cx="91440" cy="91440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>
            <p:custDataLst>
              <p:tags r:id="rId14"/>
            </p:custDataLst>
          </p:nvPr>
        </p:nvSpPr>
        <p:spPr>
          <a:xfrm>
            <a:off x="6456045" y="2496312"/>
            <a:ext cx="2651760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保留人工意见，避免完全依赖单次模型判断</a:t>
            </a:r>
            <a:endParaRPr lang="en-US" sz="1400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0" name="Shape 18"/>
          <p:cNvSpPr/>
          <p:nvPr>
            <p:custDataLst>
              <p:tags r:id="rId15"/>
            </p:custDataLst>
          </p:nvPr>
        </p:nvSpPr>
        <p:spPr>
          <a:xfrm>
            <a:off x="6291453" y="3191256"/>
            <a:ext cx="91440" cy="91440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>
            <p:custDataLst>
              <p:tags r:id="rId16"/>
            </p:custDataLst>
          </p:nvPr>
        </p:nvSpPr>
        <p:spPr>
          <a:xfrm>
            <a:off x="6456045" y="3118104"/>
            <a:ext cx="2651760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形成 AI 与人工结合的判定闭环</a:t>
            </a:r>
            <a:endParaRPr lang="en-US" sz="1400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13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473575" cy="48228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2755" y="1816100"/>
            <a:ext cx="4678045" cy="48228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0685" y="0"/>
            <a:ext cx="4171315" cy="45415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385" y="-81280"/>
            <a:ext cx="3564890" cy="569404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2010" y="3522345"/>
            <a:ext cx="7370445" cy="333565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245" y="0"/>
            <a:ext cx="8705850" cy="36766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接口设计概览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68680" y="137160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" y="1481328"/>
            <a:ext cx="46908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3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主要接口及作用</a:t>
            </a:r>
            <a:endParaRPr lang="en-US" sz="1000" b="1" dirty="0">
              <a:solidFill>
                <a:srgbClr val="113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51560" y="1828800"/>
            <a:ext cx="4572000" cy="384048"/>
          </a:xfrm>
          <a:prstGeom prst="roundRect">
            <a:avLst>
              <a:gd name="adj" fmla="val 7143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9576" y="192024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/api/auth/*</a:t>
            </a:r>
            <a:endParaRPr lang="en-US" sz="1000" b="1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697480" y="190195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完成登录、注册、当前用户查询与退出</a:t>
            </a:r>
            <a:endParaRPr lang="en-US" sz="1000" dirty="0">
              <a:solidFill>
                <a:srgbClr val="5C6B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051560" y="2331720"/>
            <a:ext cx="457200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9576" y="242316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/api/users / /api/config</a:t>
            </a:r>
            <a:endParaRPr lang="en-US" sz="1000" b="1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697480" y="240487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管理员维护用户状态与模型参数配置</a:t>
            </a:r>
            <a:endParaRPr lang="en-US" sz="1000" dirty="0">
              <a:solidFill>
                <a:srgbClr val="5C6B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051560" y="2834640"/>
            <a:ext cx="4572000" cy="384048"/>
          </a:xfrm>
          <a:prstGeom prst="roundRect">
            <a:avLst>
              <a:gd name="adj" fmla="val 7143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9576" y="29260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/api/sops</a:t>
            </a:r>
            <a:endParaRPr lang="en-US" sz="1000" b="1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697480" y="29077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SOP 列表、详情、新建、删除与步骤参考维护</a:t>
            </a:r>
            <a:endParaRPr lang="en-US" sz="1000" dirty="0">
              <a:solidFill>
                <a:srgbClr val="5C6B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51560" y="3337560"/>
            <a:ext cx="457200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9576" y="342900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/api/sops/{id}/evaluation-jobs</a:t>
            </a:r>
            <a:endParaRPr lang="en-US" sz="1000" b="1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697480" y="341071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创建评测任务并提交用户视频</a:t>
            </a:r>
            <a:endParaRPr lang="en-US" sz="1000" dirty="0">
              <a:solidFill>
                <a:srgbClr val="5C6B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051560" y="3840480"/>
            <a:ext cx="4572000" cy="384048"/>
          </a:xfrm>
          <a:prstGeom prst="roundRect">
            <a:avLst>
              <a:gd name="adj" fmla="val 7143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79576" y="393192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/api/evaluation-jobs/*</a:t>
            </a:r>
            <a:endParaRPr lang="en-US" sz="1000" b="1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697480" y="39136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查询任务状态、进度日志与失败原因</a:t>
            </a:r>
            <a:endParaRPr lang="en-US" sz="1000" dirty="0">
              <a:solidFill>
                <a:srgbClr val="5C6B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051560" y="4343400"/>
            <a:ext cx="457200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79576" y="443484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/api/history / /api/stats</a:t>
            </a:r>
            <a:endParaRPr lang="en-US" sz="1000" b="1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697480" y="441655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历史记录查询、人工复核与统计分析</a:t>
            </a:r>
            <a:endParaRPr lang="en-US" sz="1000" dirty="0">
              <a:solidFill>
                <a:srgbClr val="5C6B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051560" y="4846320"/>
            <a:ext cx="4572000" cy="384048"/>
          </a:xfrm>
          <a:prstGeom prst="roundRect">
            <a:avLst>
              <a:gd name="adj" fmla="val 7143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79576" y="493776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/api/media/{id}</a:t>
            </a:r>
            <a:endParaRPr lang="en-US" sz="1000" b="1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697480" y="491947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C6B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按权限访问示范视频、执行视频与关键帧资源</a:t>
            </a:r>
            <a:endParaRPr lang="en-US" sz="1000" dirty="0">
              <a:solidFill>
                <a:srgbClr val="5C6B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126480" y="137160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72784" y="1481328"/>
            <a:ext cx="46908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3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接口设计特点</a:t>
            </a:r>
            <a:endParaRPr lang="en-US" sz="1200" b="1" dirty="0">
              <a:solidFill>
                <a:srgbClr val="113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355080" y="1901952"/>
            <a:ext cx="91440" cy="91440"/>
          </a:xfrm>
          <a:prstGeom prst="ellipse">
            <a:avLst/>
          </a:prstGeom>
          <a:solidFill>
            <a:srgbClr val="2C8C7A"/>
          </a:solidFill>
          <a:ln w="12700">
            <a:solidFill>
              <a:srgbClr val="2C8C7A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19672" y="1828800"/>
            <a:ext cx="4361688" cy="5852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接口结构与前端页面职责保持一致，便于联调和后续维护。</a:t>
            </a:r>
            <a:endParaRPr lang="en-US" sz="1200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355080" y="2505456"/>
            <a:ext cx="91440" cy="91440"/>
          </a:xfrm>
          <a:prstGeom prst="ellipse">
            <a:avLst/>
          </a:prstGeom>
          <a:solidFill>
            <a:srgbClr val="2C8C7A"/>
          </a:solidFill>
          <a:ln w="12700">
            <a:solidFill>
              <a:srgbClr val="2C8C7A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19672" y="2432304"/>
            <a:ext cx="4361688" cy="5852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评测任务和历史记录分离，既满足异步处理也方便结果留痕。</a:t>
            </a:r>
            <a:endParaRPr lang="en-US" sz="1200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355080" y="3108960"/>
            <a:ext cx="91440" cy="91440"/>
          </a:xfrm>
          <a:prstGeom prst="ellipse">
            <a:avLst/>
          </a:prstGeom>
          <a:solidFill>
            <a:srgbClr val="2C8C7A"/>
          </a:solidFill>
          <a:ln w="12700">
            <a:solidFill>
              <a:srgbClr val="2C8C7A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19672" y="3035808"/>
            <a:ext cx="4361688" cy="5852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媒体资源通过统一接口按权限访问，便于示范视频和执行视频复用。</a:t>
            </a:r>
            <a:endParaRPr lang="en-US" sz="1200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355080" y="3712464"/>
            <a:ext cx="91440" cy="91440"/>
          </a:xfrm>
          <a:prstGeom prst="ellipse">
            <a:avLst/>
          </a:prstGeom>
          <a:solidFill>
            <a:srgbClr val="2C8C7A"/>
          </a:solidFill>
          <a:ln w="12700">
            <a:solidFill>
              <a:srgbClr val="2C8C7A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19672" y="3639312"/>
            <a:ext cx="4361688" cy="5852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SOP 相关接口不仅服务于基础增删改查，还承载参考信息维护能力。</a:t>
            </a:r>
            <a:endParaRPr lang="en-US" sz="1200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13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数据库设计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5029200" cy="2215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6B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数据库围绕用户、SOP、媒体、任务、执行结果和复核记录建立关联。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" y="1527048"/>
            <a:ext cx="46908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3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核心数据表及作用（一）</a:t>
            </a:r>
            <a:endParaRPr lang="en-US" sz="1200" b="1" dirty="0">
              <a:solidFill>
                <a:srgbClr val="113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51560" y="1810512"/>
            <a:ext cx="4617720" cy="438912"/>
          </a:xfrm>
          <a:prstGeom prst="roundRect">
            <a:avLst>
              <a:gd name="adj" fmla="val 6250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9576" y="1901952"/>
            <a:ext cx="1570025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users</a:t>
            </a:r>
            <a:endParaRPr lang="en-US" sz="1200" b="1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713939" y="1883664"/>
            <a:ext cx="2770632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5C6B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保存用户账号、角色和状态信息</a:t>
            </a:r>
            <a:endParaRPr lang="en-US" sz="1080" dirty="0">
              <a:solidFill>
                <a:srgbClr val="5C6B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051560" y="2377440"/>
            <a:ext cx="461772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9576" y="2468880"/>
            <a:ext cx="1570025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user_login_sessions</a:t>
            </a:r>
            <a:endParaRPr lang="en-US" sz="1200" b="1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713939" y="2450592"/>
            <a:ext cx="2770632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5C6B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保存登录会话与当前在线状态</a:t>
            </a:r>
            <a:endParaRPr lang="en-US" sz="1080" dirty="0">
              <a:solidFill>
                <a:srgbClr val="5C6B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051560" y="2944368"/>
            <a:ext cx="4617720" cy="438912"/>
          </a:xfrm>
          <a:prstGeom prst="roundRect">
            <a:avLst>
              <a:gd name="adj" fmla="val 6250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9576" y="3035808"/>
            <a:ext cx="1570025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ai_configs</a:t>
            </a:r>
            <a:endParaRPr lang="en-US" sz="1200" b="1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713939" y="3017520"/>
            <a:ext cx="2770632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5C6B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保存模型接口相关配置</a:t>
            </a:r>
            <a:endParaRPr lang="en-US" sz="1080" dirty="0">
              <a:solidFill>
                <a:srgbClr val="5C6B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51560" y="3511296"/>
            <a:ext cx="461772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9576" y="3602736"/>
            <a:ext cx="1570025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sops</a:t>
            </a:r>
            <a:endParaRPr lang="en-US" sz="1200" b="1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713939" y="3584448"/>
            <a:ext cx="2770632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5C6B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 SOP 主体信息</a:t>
            </a:r>
            <a:endParaRPr lang="en-US" sz="1080" dirty="0">
              <a:solidFill>
                <a:srgbClr val="5C6B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051560" y="4078224"/>
            <a:ext cx="4617720" cy="438912"/>
          </a:xfrm>
          <a:prstGeom prst="roundRect">
            <a:avLst>
              <a:gd name="adj" fmla="val 6250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79576" y="4169664"/>
            <a:ext cx="1570025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sop_steps</a:t>
            </a:r>
            <a:endParaRPr lang="en-US" sz="1200" b="1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713939" y="4151376"/>
            <a:ext cx="2770632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5C6B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保存步骤描述、类型、权重等信息</a:t>
            </a:r>
            <a:endParaRPr lang="en-US" sz="1080" dirty="0">
              <a:solidFill>
                <a:srgbClr val="5C6B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051560" y="4645152"/>
            <a:ext cx="461772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79576" y="4736592"/>
            <a:ext cx="1570025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sop_step_prerequisites</a:t>
            </a:r>
            <a:endParaRPr lang="en-US" sz="1200" b="1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713939" y="4718304"/>
            <a:ext cx="2770632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5C6B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保存步骤前置依赖关系</a:t>
            </a:r>
            <a:endParaRPr lang="en-US" sz="1080" dirty="0">
              <a:solidFill>
                <a:srgbClr val="5C6B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126480" y="141732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72784" y="1527048"/>
            <a:ext cx="46908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3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核心数据表及作用（二）</a:t>
            </a:r>
            <a:endParaRPr lang="en-US" sz="1200" b="1" dirty="0">
              <a:solidFill>
                <a:srgbClr val="113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309360" y="1810512"/>
            <a:ext cx="4617720" cy="384048"/>
          </a:xfrm>
          <a:prstGeom prst="roundRect">
            <a:avLst>
              <a:gd name="adj" fmla="val 7143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37376" y="1901952"/>
            <a:ext cx="157002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media_files</a:t>
            </a:r>
            <a:endParaRPr lang="en-US" sz="1200" b="1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971739" y="1883664"/>
            <a:ext cx="2770632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5C6B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保存示范视频、执行视频和媒体索引</a:t>
            </a:r>
            <a:endParaRPr lang="en-US" sz="1080" dirty="0">
              <a:solidFill>
                <a:srgbClr val="5C6B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309360" y="2304288"/>
            <a:ext cx="461772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37376" y="2395728"/>
            <a:ext cx="157002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sop_step_keyframes</a:t>
            </a:r>
            <a:endParaRPr lang="en-US" sz="1200" b="1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971739" y="2377440"/>
            <a:ext cx="2770632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5C6B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保存步骤关键帧数据</a:t>
            </a:r>
            <a:endParaRPr lang="en-US" sz="1080" dirty="0">
              <a:solidFill>
                <a:srgbClr val="5C6B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309360" y="2798064"/>
            <a:ext cx="4617720" cy="384048"/>
          </a:xfrm>
          <a:prstGeom prst="roundRect">
            <a:avLst>
              <a:gd name="adj" fmla="val 7143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37376" y="2889504"/>
            <a:ext cx="157002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sop_step_substeps</a:t>
            </a:r>
            <a:endParaRPr lang="en-US" sz="1200" b="1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971739" y="2871216"/>
            <a:ext cx="2770632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5C6B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保存关键时刻与时间点信息</a:t>
            </a:r>
            <a:endParaRPr lang="en-US" sz="1080" dirty="0">
              <a:solidFill>
                <a:srgbClr val="5C6B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309360" y="3291840"/>
            <a:ext cx="461772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37376" y="3383280"/>
            <a:ext cx="157002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evaluation_jobs</a:t>
            </a:r>
            <a:endParaRPr lang="en-US" sz="1200" b="1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971739" y="3364992"/>
            <a:ext cx="2770632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5C6B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保存异步评测任务及状态</a:t>
            </a:r>
            <a:endParaRPr lang="en-US" sz="1080" dirty="0">
              <a:solidFill>
                <a:srgbClr val="5C6B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309360" y="3785616"/>
            <a:ext cx="4617720" cy="384048"/>
          </a:xfrm>
          <a:prstGeom prst="roundRect">
            <a:avLst>
              <a:gd name="adj" fmla="val 7143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37376" y="3877056"/>
            <a:ext cx="157002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sop_executions</a:t>
            </a:r>
            <a:endParaRPr lang="en-US" sz="1200" b="1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971739" y="3858768"/>
            <a:ext cx="2770632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5C6B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保存每次执行与总体评测结果</a:t>
            </a:r>
            <a:endParaRPr lang="en-US" sz="1080" dirty="0">
              <a:solidFill>
                <a:srgbClr val="5C6B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6309360" y="4279392"/>
            <a:ext cx="461772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37376" y="4370832"/>
            <a:ext cx="157002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execution_step_results</a:t>
            </a:r>
            <a:endParaRPr lang="en-US" sz="1200" b="1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971739" y="4352544"/>
            <a:ext cx="2770632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5C6B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保存步骤级得分与证据</a:t>
            </a:r>
            <a:endParaRPr lang="en-US" sz="1080" dirty="0">
              <a:solidFill>
                <a:srgbClr val="5C6B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309360" y="4773168"/>
            <a:ext cx="4617720" cy="384048"/>
          </a:xfrm>
          <a:prstGeom prst="roundRect">
            <a:avLst>
              <a:gd name="adj" fmla="val 7143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37376" y="4864608"/>
            <a:ext cx="157002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manual_reviews</a:t>
            </a:r>
            <a:endParaRPr lang="en-US" sz="1200" b="1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7971739" y="4846320"/>
            <a:ext cx="2770632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5C6B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保存人工复核结论与备注</a:t>
            </a:r>
            <a:endParaRPr lang="en-US" sz="1080" dirty="0">
              <a:solidFill>
                <a:srgbClr val="5C6B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13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系统界面展示：</a:t>
            </a:r>
            <a:r>
              <a:rPr lang="zh-CN" altLang="en-US" sz="2400" b="1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登录</a:t>
            </a:r>
            <a:r>
              <a:rPr lang="zh-CN" altLang="en-US" sz="2400" b="1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页面</a:t>
            </a:r>
            <a:endParaRPr lang="zh-CN" altLang="en-US" sz="2400" b="1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13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</a:t>
            </a:r>
            <a:endParaRPr lang="en-US" sz="900" dirty="0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0525" y="795655"/>
            <a:ext cx="7723505" cy="367157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1760" y="3035300"/>
            <a:ext cx="6851015" cy="32416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系统界面展示：管理</a:t>
            </a:r>
            <a:r>
              <a:rPr lang="zh-CN" altLang="en-US" sz="2400" b="1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员</a:t>
            </a:r>
            <a:r>
              <a:rPr lang="en-US" sz="2400" b="1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端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13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</a:t>
            </a:r>
            <a:endParaRPr lang="en-US" sz="900" dirty="0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11860"/>
            <a:ext cx="8200390" cy="394716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2905" y="2360295"/>
            <a:ext cx="7999095" cy="384937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737350" cy="329628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" y="3429000"/>
            <a:ext cx="7405370" cy="30632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9595" y="1687195"/>
            <a:ext cx="6542405" cy="333819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系统界面展示：用户端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13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</a:t>
            </a:r>
            <a:endParaRPr lang="en-US" sz="900" dirty="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07415"/>
            <a:ext cx="7145020" cy="342138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5240" y="3227705"/>
            <a:ext cx="5135880" cy="363029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785" y="207010"/>
            <a:ext cx="5657215" cy="456374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273925" cy="427799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8705" y="2281555"/>
            <a:ext cx="6153785" cy="457644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1955" y="0"/>
            <a:ext cx="6842125" cy="350647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系统界面展示：评测结果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13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</a:t>
            </a:r>
            <a:endParaRPr lang="en-US" sz="900" dirty="0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800" y="893445"/>
            <a:ext cx="4350385" cy="471424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260" y="3618865"/>
            <a:ext cx="5988685" cy="289179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6990" y="160655"/>
            <a:ext cx="4403090" cy="426529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存在的问题</a:t>
            </a:r>
            <a:endParaRPr lang="en-US" sz="2400" dirty="0"/>
          </a:p>
        </p:txBody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868680" y="1554480"/>
            <a:ext cx="484759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7" name="Shape 5"/>
          <p:cNvSpPr/>
          <p:nvPr>
            <p:custDataLst>
              <p:tags r:id="rId2"/>
            </p:custDataLst>
          </p:nvPr>
        </p:nvSpPr>
        <p:spPr>
          <a:xfrm>
            <a:off x="1014984" y="1682496"/>
            <a:ext cx="749808" cy="292608"/>
          </a:xfrm>
          <a:prstGeom prst="roundRect">
            <a:avLst>
              <a:gd name="adj" fmla="val 25000"/>
            </a:avLst>
          </a:prstGeom>
          <a:solidFill>
            <a:srgbClr val="D64545"/>
          </a:solidFill>
          <a:ln w="12700">
            <a:solidFill>
              <a:srgbClr val="D6454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1088136" y="1728216"/>
            <a:ext cx="60350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 1</a:t>
            </a:r>
            <a:endParaRPr lang="en-US" sz="1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1874520" y="1700784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评测结果稳定性仍不足</a:t>
            </a:r>
            <a:endParaRPr lang="en-US" sz="1400" b="1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Text 8"/>
          <p:cNvSpPr/>
          <p:nvPr>
            <p:custDataLst>
              <p:tags r:id="rId5"/>
            </p:custDataLst>
          </p:nvPr>
        </p:nvSpPr>
        <p:spPr>
          <a:xfrm>
            <a:off x="1014984" y="1993392"/>
            <a:ext cx="4681728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C6B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不同拍摄角度、光照、遮挡和清晰度条件下，同一动作的判断结果仍可能波动。</a:t>
            </a:r>
            <a:endParaRPr lang="en-US" sz="1200" dirty="0">
              <a:solidFill>
                <a:srgbClr val="5C6B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Shape 9"/>
          <p:cNvSpPr/>
          <p:nvPr>
            <p:custDataLst>
              <p:tags r:id="rId6"/>
            </p:custDataLst>
          </p:nvPr>
        </p:nvSpPr>
        <p:spPr>
          <a:xfrm>
            <a:off x="868680" y="2880360"/>
            <a:ext cx="4827905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2" name="Shape 10"/>
          <p:cNvSpPr/>
          <p:nvPr>
            <p:custDataLst>
              <p:tags r:id="rId7"/>
            </p:custDataLst>
          </p:nvPr>
        </p:nvSpPr>
        <p:spPr>
          <a:xfrm>
            <a:off x="1014984" y="3008376"/>
            <a:ext cx="749808" cy="292608"/>
          </a:xfrm>
          <a:prstGeom prst="roundRect">
            <a:avLst>
              <a:gd name="adj" fmla="val 25000"/>
            </a:avLst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8"/>
            </p:custDataLst>
          </p:nvPr>
        </p:nvSpPr>
        <p:spPr>
          <a:xfrm>
            <a:off x="1088136" y="3054096"/>
            <a:ext cx="60350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 2</a:t>
            </a:r>
            <a:endParaRPr lang="en-US" sz="1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4" name="Text 12"/>
          <p:cNvSpPr/>
          <p:nvPr>
            <p:custDataLst>
              <p:tags r:id="rId9"/>
            </p:custDataLst>
          </p:nvPr>
        </p:nvSpPr>
        <p:spPr>
          <a:xfrm>
            <a:off x="1874520" y="3026664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复杂时序动作识别难度较高</a:t>
            </a:r>
            <a:endParaRPr lang="en-US" sz="1400" b="1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Text 13"/>
          <p:cNvSpPr/>
          <p:nvPr>
            <p:custDataLst>
              <p:tags r:id="rId10"/>
            </p:custDataLst>
          </p:nvPr>
        </p:nvSpPr>
        <p:spPr>
          <a:xfrm>
            <a:off x="1014984" y="3319272"/>
            <a:ext cx="4681728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C6B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对于顺序依赖强、步骤衔接紧密的 SOP，步骤定位和顺序判断仍可能偏差。</a:t>
            </a:r>
            <a:endParaRPr lang="en-US" sz="1200" dirty="0">
              <a:solidFill>
                <a:srgbClr val="5C6B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" name="Shape 14"/>
          <p:cNvSpPr/>
          <p:nvPr>
            <p:custDataLst>
              <p:tags r:id="rId11"/>
            </p:custDataLst>
          </p:nvPr>
        </p:nvSpPr>
        <p:spPr>
          <a:xfrm>
            <a:off x="868680" y="4206240"/>
            <a:ext cx="480949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7" name="Shape 15"/>
          <p:cNvSpPr/>
          <p:nvPr>
            <p:custDataLst>
              <p:tags r:id="rId12"/>
            </p:custDataLst>
          </p:nvPr>
        </p:nvSpPr>
        <p:spPr>
          <a:xfrm>
            <a:off x="1014984" y="4334256"/>
            <a:ext cx="749808" cy="292608"/>
          </a:xfrm>
          <a:prstGeom prst="roundRect">
            <a:avLst>
              <a:gd name="adj" fmla="val 25000"/>
            </a:avLst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>
            <p:custDataLst>
              <p:tags r:id="rId13"/>
            </p:custDataLst>
          </p:nvPr>
        </p:nvSpPr>
        <p:spPr>
          <a:xfrm>
            <a:off x="1088136" y="4379976"/>
            <a:ext cx="60350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 3</a:t>
            </a:r>
            <a:endParaRPr lang="en-US" sz="1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9" name="Text 17"/>
          <p:cNvSpPr/>
          <p:nvPr>
            <p:custDataLst>
              <p:tags r:id="rId14"/>
            </p:custDataLst>
          </p:nvPr>
        </p:nvSpPr>
        <p:spPr>
          <a:xfrm>
            <a:off x="1874520" y="4352544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示范视频到步骤映射仍不够精细</a:t>
            </a:r>
            <a:endParaRPr lang="en-US" sz="1400" b="1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0" name="Text 18"/>
          <p:cNvSpPr/>
          <p:nvPr>
            <p:custDataLst>
              <p:tags r:id="rId15"/>
            </p:custDataLst>
          </p:nvPr>
        </p:nvSpPr>
        <p:spPr>
          <a:xfrm>
            <a:off x="1014984" y="4645152"/>
            <a:ext cx="4681728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C6B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完整流程视频自动切分虽已实现，但部分步骤边界不明显，影响参考质量。</a:t>
            </a:r>
            <a:endParaRPr lang="en-US" sz="1200" dirty="0">
              <a:solidFill>
                <a:srgbClr val="5C6B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1" name="Shape 19"/>
          <p:cNvSpPr/>
          <p:nvPr>
            <p:custDataLst>
              <p:tags r:id="rId16"/>
            </p:custDataLst>
          </p:nvPr>
        </p:nvSpPr>
        <p:spPr>
          <a:xfrm>
            <a:off x="5989320" y="1554480"/>
            <a:ext cx="4820285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2" name="Shape 20"/>
          <p:cNvSpPr/>
          <p:nvPr>
            <p:custDataLst>
              <p:tags r:id="rId17"/>
            </p:custDataLst>
          </p:nvPr>
        </p:nvSpPr>
        <p:spPr>
          <a:xfrm>
            <a:off x="6135624" y="1682496"/>
            <a:ext cx="749808" cy="292608"/>
          </a:xfrm>
          <a:prstGeom prst="roundRect">
            <a:avLst>
              <a:gd name="adj" fmla="val 25000"/>
            </a:avLst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>
            <p:custDataLst>
              <p:tags r:id="rId18"/>
            </p:custDataLst>
          </p:nvPr>
        </p:nvSpPr>
        <p:spPr>
          <a:xfrm>
            <a:off x="6208776" y="1728216"/>
            <a:ext cx="60350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 4</a:t>
            </a:r>
            <a:endParaRPr lang="en-US" sz="1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4" name="Text 22"/>
          <p:cNvSpPr/>
          <p:nvPr>
            <p:custDataLst>
              <p:tags r:id="rId19"/>
            </p:custDataLst>
          </p:nvPr>
        </p:nvSpPr>
        <p:spPr>
          <a:xfrm>
            <a:off x="6995160" y="1700784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系统场景泛化能力仍有待提升</a:t>
            </a:r>
            <a:endParaRPr lang="en-US" sz="1400" b="1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5" name="Text 23"/>
          <p:cNvSpPr/>
          <p:nvPr>
            <p:custDataLst>
              <p:tags r:id="rId20"/>
            </p:custDataLst>
          </p:nvPr>
        </p:nvSpPr>
        <p:spPr>
          <a:xfrm>
            <a:off x="6135624" y="1993392"/>
            <a:ext cx="4681728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C6B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当操作对象、拍摄环境或流程类型变化较大时，模型适应性仍需增强。</a:t>
            </a:r>
            <a:endParaRPr lang="en-US" sz="1200" dirty="0">
              <a:solidFill>
                <a:srgbClr val="5C6B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6" name="Shape 24"/>
          <p:cNvSpPr/>
          <p:nvPr>
            <p:custDataLst>
              <p:tags r:id="rId21"/>
            </p:custDataLst>
          </p:nvPr>
        </p:nvSpPr>
        <p:spPr>
          <a:xfrm>
            <a:off x="5989320" y="2880360"/>
            <a:ext cx="482092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7" name="Shape 25"/>
          <p:cNvSpPr/>
          <p:nvPr>
            <p:custDataLst>
              <p:tags r:id="rId22"/>
            </p:custDataLst>
          </p:nvPr>
        </p:nvSpPr>
        <p:spPr>
          <a:xfrm>
            <a:off x="6135624" y="3008376"/>
            <a:ext cx="749808" cy="292608"/>
          </a:xfrm>
          <a:prstGeom prst="roundRect">
            <a:avLst>
              <a:gd name="adj" fmla="val 25000"/>
            </a:avLst>
          </a:prstGeom>
          <a:solidFill>
            <a:srgbClr val="2C8C7A"/>
          </a:solidFill>
          <a:ln w="12700">
            <a:solidFill>
              <a:srgbClr val="2C8C7A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>
            <p:custDataLst>
              <p:tags r:id="rId23"/>
            </p:custDataLst>
          </p:nvPr>
        </p:nvSpPr>
        <p:spPr>
          <a:xfrm>
            <a:off x="6208776" y="3054096"/>
            <a:ext cx="60350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 5</a:t>
            </a:r>
            <a:endParaRPr lang="en-US" sz="1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9" name="Text 27"/>
          <p:cNvSpPr/>
          <p:nvPr>
            <p:custDataLst>
              <p:tags r:id="rId24"/>
            </p:custDataLst>
          </p:nvPr>
        </p:nvSpPr>
        <p:spPr>
          <a:xfrm>
            <a:off x="6995160" y="3026664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评测解释性仍可继续增强</a:t>
            </a:r>
            <a:endParaRPr lang="en-US" sz="1400" b="1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0" name="Text 28"/>
          <p:cNvSpPr/>
          <p:nvPr>
            <p:custDataLst>
              <p:tags r:id="rId25"/>
            </p:custDataLst>
          </p:nvPr>
        </p:nvSpPr>
        <p:spPr>
          <a:xfrm>
            <a:off x="6135624" y="3319272"/>
            <a:ext cx="4681728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C6B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目前已能输出得分和证据，但“错在哪里、如何改进”还可以表达得更直观。</a:t>
            </a:r>
            <a:endParaRPr lang="en-US" sz="1200" dirty="0">
              <a:solidFill>
                <a:srgbClr val="5C6B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13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改进措施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68680" y="1783080"/>
            <a:ext cx="1931213" cy="786384"/>
          </a:xfrm>
          <a:prstGeom prst="roundRect">
            <a:avLst>
              <a:gd name="adj" fmla="val 9302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6696" y="1929384"/>
            <a:ext cx="256032" cy="25603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6696" y="1975104"/>
            <a:ext cx="256032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325880" y="1901952"/>
            <a:ext cx="1364285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优化评测提示词与判定规则</a:t>
            </a:r>
            <a:endParaRPr lang="en-US" sz="1400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99893" y="2176272"/>
            <a:ext cx="146304" cy="0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46197" y="1783080"/>
            <a:ext cx="1931213" cy="786384"/>
          </a:xfrm>
          <a:prstGeom prst="roundRect">
            <a:avLst>
              <a:gd name="adj" fmla="val 9302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74213" y="1929384"/>
            <a:ext cx="256032" cy="256032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74213" y="1975104"/>
            <a:ext cx="256032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403397" y="1901952"/>
            <a:ext cx="1364285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增强时序分析能力</a:t>
            </a:r>
            <a:endParaRPr lang="en-US" sz="1400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77410" y="2176272"/>
            <a:ext cx="146304" cy="0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3714" y="1783080"/>
            <a:ext cx="1931213" cy="786384"/>
          </a:xfrm>
          <a:prstGeom prst="roundRect">
            <a:avLst>
              <a:gd name="adj" fmla="val 9302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51730" y="1929384"/>
            <a:ext cx="256032" cy="256032"/>
          </a:xfrm>
          <a:prstGeom prst="ellipse">
            <a:avLst/>
          </a:prstGeom>
          <a:solidFill>
            <a:srgbClr val="E3A008"/>
          </a:solidFill>
          <a:ln w="12700">
            <a:solidFill>
              <a:srgbClr val="E3A00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51730" y="1975104"/>
            <a:ext cx="256032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480914" y="1901952"/>
            <a:ext cx="1364285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改进参考信息生成方式</a:t>
            </a:r>
            <a:endParaRPr lang="en-US" sz="1400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954926" y="2176272"/>
            <a:ext cx="146304" cy="0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01230" y="1783080"/>
            <a:ext cx="1931213" cy="786384"/>
          </a:xfrm>
          <a:prstGeom prst="roundRect">
            <a:avLst>
              <a:gd name="adj" fmla="val 9302"/>
            </a:avLst>
          </a:prstGeom>
          <a:solidFill>
            <a:srgbClr val="EEF4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29246" y="1929384"/>
            <a:ext cx="256032" cy="256032"/>
          </a:xfrm>
          <a:prstGeom prst="ellipse">
            <a:avLst/>
          </a:prstGeom>
          <a:solidFill>
            <a:srgbClr val="2C8C7A"/>
          </a:solidFill>
          <a:ln w="12700">
            <a:solidFill>
              <a:srgbClr val="2C8C7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9246" y="1975104"/>
            <a:ext cx="256032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558430" y="1901952"/>
            <a:ext cx="1364285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扩展多场景样本与 SOP 类型</a:t>
            </a:r>
            <a:endParaRPr lang="en-US" sz="1400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032443" y="2176272"/>
            <a:ext cx="146304" cy="0"/>
          </a:xfrm>
          <a:prstGeom prst="line">
            <a:avLst/>
          </a:prstGeom>
          <a:noFill/>
          <a:ln w="19050">
            <a:solidFill>
              <a:srgbClr val="2F6B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78747" y="1783080"/>
            <a:ext cx="1931213" cy="786384"/>
          </a:xfrm>
          <a:prstGeom prst="roundRect">
            <a:avLst>
              <a:gd name="adj" fmla="val 9302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06763" y="1929384"/>
            <a:ext cx="256032" cy="256032"/>
          </a:xfrm>
          <a:prstGeom prst="ellipse">
            <a:avLst/>
          </a:prstGeom>
          <a:solidFill>
            <a:srgbClr val="113A8F"/>
          </a:solidFill>
          <a:ln w="12700">
            <a:solidFill>
              <a:srgbClr val="113A8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06763" y="1975104"/>
            <a:ext cx="256032" cy="9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635947" y="1901952"/>
            <a:ext cx="1364285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强化结果展示与反馈能力</a:t>
            </a:r>
            <a:endParaRPr lang="en-US" sz="1400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68680" y="3154680"/>
            <a:ext cx="10241280" cy="2921635"/>
          </a:xfrm>
          <a:prstGeom prst="roundRect">
            <a:avLst>
              <a:gd name="adj" fmla="val 3810"/>
            </a:avLst>
          </a:prstGeom>
          <a:solidFill>
            <a:srgbClr val="F7FAFF"/>
          </a:solidFill>
          <a:ln w="12700">
            <a:solidFill>
              <a:srgbClr val="D6E0F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4984" y="3264408"/>
            <a:ext cx="99486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3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具体计划</a:t>
            </a:r>
            <a:endParaRPr lang="en-US" sz="1400" b="1" dirty="0">
              <a:solidFill>
                <a:srgbClr val="113A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253109" y="3639312"/>
            <a:ext cx="9637776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补充关键动作、顺序约束和异常情况的判定规则，提高模型判断一致性。</a:t>
            </a:r>
            <a:endParaRPr lang="en-US" sz="1400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253109" y="4142613"/>
            <a:ext cx="9637776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继续优化短时动作、相邻步骤和前置依赖步骤的识别与定位效果。</a:t>
            </a:r>
            <a:endParaRPr lang="en-US" sz="1400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253109" y="4645279"/>
            <a:ext cx="9637776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优化关键帧、关键时刻和 ROI 提取策略，必要时保留人工微调入口。</a:t>
            </a:r>
            <a:endParaRPr lang="en-US" sz="1400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243584" y="5128260"/>
            <a:ext cx="9637776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增加不同场景和不同流程类型样本，提升系统泛化能力和适用范围。</a:t>
            </a:r>
            <a:endParaRPr lang="en-US" sz="1400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243584" y="5587111"/>
            <a:ext cx="9637776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让结果页与时间轴、问题片段和改进建议之间形成更清晰的对应关系。</a:t>
            </a:r>
            <a:endParaRPr lang="en-US" sz="1400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13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25880"/>
            <a:ext cx="80467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200" b="1" dirty="0">
                <a:solidFill>
                  <a:srgbClr val="1E2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感谢</a:t>
            </a:r>
            <a:endParaRPr lang="zh-CN" altLang="en-US" sz="3200" b="1" dirty="0">
              <a:solidFill>
                <a:srgbClr val="1E2A3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41248" y="2487168"/>
            <a:ext cx="3200400" cy="0"/>
          </a:xfrm>
          <a:prstGeom prst="line">
            <a:avLst/>
          </a:prstGeom>
          <a:noFill/>
          <a:ln w="25400">
            <a:solidFill>
              <a:srgbClr val="2F6B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6446520"/>
            <a:ext cx="10545775" cy="0"/>
          </a:xfrm>
          <a:prstGeom prst="line">
            <a:avLst/>
          </a:prstGeom>
          <a:noFill/>
          <a:ln w="12700">
            <a:solidFill>
              <a:srgbClr val="D6E0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60175" y="6510528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13A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83.4700000000001,&quot;left&quot;:82.08,&quot;top&quot;:122.4,&quot;width&quot;:502.43401574803136}"/>
</p:tagLst>
</file>

<file path=ppt/tags/tag2.xml><?xml version="1.0" encoding="utf-8"?>
<p:tagLst xmlns:p="http://schemas.openxmlformats.org/presentationml/2006/main">
  <p:tag name="KSO_WM_DIAGRAM_VIRTUALLY_FRAME" val="{&quot;height&quot;:283.4700000000001,&quot;left&quot;:82.08,&quot;top&quot;:122.4,&quot;width&quot;:502.43401574803136}"/>
</p:tagLst>
</file>

<file path=ppt/tags/tag3.xml><?xml version="1.0" encoding="utf-8"?>
<p:tagLst xmlns:p="http://schemas.openxmlformats.org/presentationml/2006/main">
  <p:tag name="KSO_WM_DIAGRAM_VIRTUALLY_FRAME" val="{&quot;height&quot;:283.4700000000001,&quot;left&quot;:82.08,&quot;top&quot;:122.4,&quot;width&quot;:502.43401574803136}"/>
</p:tagLst>
</file>

<file path=ppt/tags/tag4.xml><?xml version="1.0" encoding="utf-8"?>
<p:tagLst xmlns:p="http://schemas.openxmlformats.org/presentationml/2006/main">
  <p:tag name="KSO_WM_DIAGRAM_VIRTUALLY_FRAME" val="{&quot;height&quot;:283.4700000000001,&quot;left&quot;:82.08,&quot;top&quot;:122.4,&quot;width&quot;:502.43401574803136}"/>
</p:tagLst>
</file>

<file path=ppt/tags/tag5.xml><?xml version="1.0" encoding="utf-8"?>
<p:tagLst xmlns:p="http://schemas.openxmlformats.org/presentationml/2006/main">
  <p:tag name="KSO_WM_DIAGRAM_VIRTUALLY_FRAME" val="{&quot;height&quot;:283.4700000000001,&quot;left&quot;:82.08,&quot;top&quot;:122.4,&quot;width&quot;:502.43401574803136}"/>
</p:tagLst>
</file>

<file path=ppt/tags/tag6.xml><?xml version="1.0" encoding="utf-8"?>
<p:tagLst xmlns:p="http://schemas.openxmlformats.org/presentationml/2006/main">
  <p:tag name="KSO_WM_DIAGRAM_VIRTUALLY_FRAME" val="{&quot;height&quot;:283.4700000000001,&quot;left&quot;:82.08,&quot;top&quot;:122.4,&quot;width&quot;:502.43401574803136}"/>
</p:tagLst>
</file>

<file path=ppt/tags/tag7.xml><?xml version="1.0" encoding="utf-8"?>
<p:tagLst xmlns:p="http://schemas.openxmlformats.org/presentationml/2006/main">
  <p:tag name="KSO_WM_DIAGRAM_VIRTUALLY_FRAME" val="{&quot;height&quot;:283.4700000000001,&quot;left&quot;:82.08,&quot;top&quot;:122.4,&quot;width&quot;:502.43401574803136}"/>
</p:tagLst>
</file>

<file path=ppt/tags/tag8.xml><?xml version="1.0" encoding="utf-8"?>
<p:tagLst xmlns:p="http://schemas.openxmlformats.org/presentationml/2006/main">
  <p:tag name="KSO_WM_DIAGRAM_VIRTUALLY_FRAME" val="{&quot;height&quot;:283.4700000000001,&quot;left&quot;:82.08,&quot;top&quot;:122.4,&quot;width&quot;:502.43401574803136}"/>
</p:tagLst>
</file>

<file path=ppt/tags/tag9.xml><?xml version="1.0" encoding="utf-8"?>
<p:tagLst xmlns:p="http://schemas.openxmlformats.org/presentationml/2006/main">
  <p:tag name="KSO_WM_DIAGRAM_VIRTUALLY_FRAME" val="{&quot;height&quot;:283.4700000000001,&quot;left&quot;:82.08,&quot;top&quot;:122.4,&quot;width&quot;:502.43401574803136}"/>
</p:tagLst>
</file>

<file path=ppt/tags/tag10.xml><?xml version="1.0" encoding="utf-8"?>
<p:tagLst xmlns:p="http://schemas.openxmlformats.org/presentationml/2006/main">
  <p:tag name="KSO_WM_DIAGRAM_VIRTUALLY_FRAME" val="{&quot;height&quot;:283.4700000000001,&quot;left&quot;:82.08,&quot;top&quot;:122.4,&quot;width&quot;:502.43401574803136}"/>
</p:tagLst>
</file>

<file path=ppt/tags/tag11.xml><?xml version="1.0" encoding="utf-8"?>
<p:tagLst xmlns:p="http://schemas.openxmlformats.org/presentationml/2006/main">
  <p:tag name="KSO_WM_DIAGRAM_VIRTUALLY_FRAME" val="{&quot;height&quot;:188.65,&quot;left&quot;:54.35,&quot;top&quot;:167.9,&quot;width&quot;:756.7}"/>
</p:tagLst>
</file>

<file path=ppt/tags/tag12.xml><?xml version="1.0" encoding="utf-8"?>
<p:tagLst xmlns:p="http://schemas.openxmlformats.org/presentationml/2006/main">
  <p:tag name="KSO_WM_DIAGRAM_VIRTUALLY_FRAME" val="{&quot;height&quot;:188.65,&quot;left&quot;:54.35,&quot;top&quot;:167.9,&quot;width&quot;:756.7}"/>
</p:tagLst>
</file>

<file path=ppt/tags/tag13.xml><?xml version="1.0" encoding="utf-8"?>
<p:tagLst xmlns:p="http://schemas.openxmlformats.org/presentationml/2006/main">
  <p:tag name="KSO_WM_DIAGRAM_VIRTUALLY_FRAME" val="{&quot;height&quot;:188.65,&quot;left&quot;:54.35,&quot;top&quot;:167.9,&quot;width&quot;:756.7}"/>
</p:tagLst>
</file>

<file path=ppt/tags/tag14.xml><?xml version="1.0" encoding="utf-8"?>
<p:tagLst xmlns:p="http://schemas.openxmlformats.org/presentationml/2006/main">
  <p:tag name="KSO_WM_DIAGRAM_VIRTUALLY_FRAME" val="{&quot;height&quot;:188.65,&quot;left&quot;:54.35,&quot;top&quot;:167.9,&quot;width&quot;:756.7}"/>
</p:tagLst>
</file>

<file path=ppt/tags/tag15.xml><?xml version="1.0" encoding="utf-8"?>
<p:tagLst xmlns:p="http://schemas.openxmlformats.org/presentationml/2006/main">
  <p:tag name="KSO_WM_DIAGRAM_VIRTUALLY_FRAME" val="{&quot;height&quot;:338.4,&quot;left&quot;:68.4,&quot;top&quot;:111.6,&quot;width&quot;:806.4}"/>
</p:tagLst>
</file>

<file path=ppt/tags/tag16.xml><?xml version="1.0" encoding="utf-8"?>
<p:tagLst xmlns:p="http://schemas.openxmlformats.org/presentationml/2006/main">
  <p:tag name="KSO_WM_DIAGRAM_VIRTUALLY_FRAME" val="{&quot;height&quot;:338.4,&quot;left&quot;:68.4,&quot;top&quot;:111.6,&quot;width&quot;:806.4}"/>
</p:tagLst>
</file>

<file path=ppt/tags/tag17.xml><?xml version="1.0" encoding="utf-8"?>
<p:tagLst xmlns:p="http://schemas.openxmlformats.org/presentationml/2006/main">
  <p:tag name="KSO_WM_DIAGRAM_VIRTUALLY_FRAME" val="{&quot;height&quot;:338.4,&quot;left&quot;:68.4,&quot;top&quot;:111.6,&quot;width&quot;:806.4}"/>
</p:tagLst>
</file>

<file path=ppt/tags/tag18.xml><?xml version="1.0" encoding="utf-8"?>
<p:tagLst xmlns:p="http://schemas.openxmlformats.org/presentationml/2006/main">
  <p:tag name="KSO_WM_DIAGRAM_VIRTUALLY_FRAME" val="{&quot;height&quot;:338.4,&quot;left&quot;:68.4,&quot;top&quot;:111.6,&quot;width&quot;:806.4}"/>
</p:tagLst>
</file>

<file path=ppt/tags/tag19.xml><?xml version="1.0" encoding="utf-8"?>
<p:tagLst xmlns:p="http://schemas.openxmlformats.org/presentationml/2006/main">
  <p:tag name="KSO_WM_DIAGRAM_VIRTUALLY_FRAME" val="{&quot;height&quot;:338.4,&quot;left&quot;:68.4,&quot;top&quot;:111.6,&quot;width&quot;:806.4}"/>
</p:tagLst>
</file>

<file path=ppt/tags/tag20.xml><?xml version="1.0" encoding="utf-8"?>
<p:tagLst xmlns:p="http://schemas.openxmlformats.org/presentationml/2006/main">
  <p:tag name="KSO_WM_DIAGRAM_VIRTUALLY_FRAME" val="{&quot;height&quot;:338.4,&quot;left&quot;:68.4,&quot;top&quot;:111.6,&quot;width&quot;:806.4}"/>
</p:tagLst>
</file>

<file path=ppt/tags/tag21.xml><?xml version="1.0" encoding="utf-8"?>
<p:tagLst xmlns:p="http://schemas.openxmlformats.org/presentationml/2006/main">
  <p:tag name="KSO_WM_DIAGRAM_VIRTUALLY_FRAME" val="{&quot;height&quot;:338.4,&quot;left&quot;:68.4,&quot;top&quot;:111.6,&quot;width&quot;:806.4}"/>
</p:tagLst>
</file>

<file path=ppt/tags/tag22.xml><?xml version="1.0" encoding="utf-8"?>
<p:tagLst xmlns:p="http://schemas.openxmlformats.org/presentationml/2006/main">
  <p:tag name="KSO_WM_DIAGRAM_VIRTUALLY_FRAME" val="{&quot;height&quot;:338.4,&quot;left&quot;:68.4,&quot;top&quot;:111.6,&quot;width&quot;:806.4}"/>
</p:tagLst>
</file>

<file path=ppt/tags/tag23.xml><?xml version="1.0" encoding="utf-8"?>
<p:tagLst xmlns:p="http://schemas.openxmlformats.org/presentationml/2006/main">
  <p:tag name="KSO_WM_DIAGRAM_VIRTUALLY_FRAME" val="{&quot;height&quot;:338.4,&quot;left&quot;:68.4,&quot;top&quot;:111.6,&quot;width&quot;:806.4}"/>
</p:tagLst>
</file>

<file path=ppt/tags/tag24.xml><?xml version="1.0" encoding="utf-8"?>
<p:tagLst xmlns:p="http://schemas.openxmlformats.org/presentationml/2006/main">
  <p:tag name="KSO_WM_DIAGRAM_VIRTUALLY_FRAME" val="{&quot;height&quot;:338.4,&quot;left&quot;:68.4,&quot;top&quot;:111.6,&quot;width&quot;:806.4}"/>
</p:tagLst>
</file>

<file path=ppt/tags/tag25.xml><?xml version="1.0" encoding="utf-8"?>
<p:tagLst xmlns:p="http://schemas.openxmlformats.org/presentationml/2006/main">
  <p:tag name="KSO_WM_DIAGRAM_VIRTUALLY_FRAME" val="{&quot;height&quot;:338.4,&quot;left&quot;:68.4,&quot;top&quot;:111.6,&quot;width&quot;:806.4}"/>
</p:tagLst>
</file>

<file path=ppt/tags/tag26.xml><?xml version="1.0" encoding="utf-8"?>
<p:tagLst xmlns:p="http://schemas.openxmlformats.org/presentationml/2006/main">
  <p:tag name="KSO_WM_DIAGRAM_VIRTUALLY_FRAME" val="{&quot;height&quot;:338.4,&quot;left&quot;:68.4,&quot;top&quot;:111.6,&quot;width&quot;:806.4}"/>
</p:tagLst>
</file>

<file path=ppt/tags/tag27.xml><?xml version="1.0" encoding="utf-8"?>
<p:tagLst xmlns:p="http://schemas.openxmlformats.org/presentationml/2006/main">
  <p:tag name="KSO_WM_DIAGRAM_VIRTUALLY_FRAME" val="{&quot;height&quot;:338.4,&quot;left&quot;:68.4,&quot;top&quot;:111.6,&quot;width&quot;:806.4}"/>
</p:tagLst>
</file>

<file path=ppt/tags/tag28.xml><?xml version="1.0" encoding="utf-8"?>
<p:tagLst xmlns:p="http://schemas.openxmlformats.org/presentationml/2006/main">
  <p:tag name="KSO_WM_DIAGRAM_VIRTUALLY_FRAME" val="{&quot;height&quot;:338.4,&quot;left&quot;:68.4,&quot;top&quot;:111.6,&quot;width&quot;:806.4}"/>
</p:tagLst>
</file>

<file path=ppt/tags/tag29.xml><?xml version="1.0" encoding="utf-8"?>
<p:tagLst xmlns:p="http://schemas.openxmlformats.org/presentationml/2006/main">
  <p:tag name="KSO_WM_DIAGRAM_VIRTUALLY_FRAME" val="{&quot;height&quot;:338.4,&quot;left&quot;:68.4,&quot;top&quot;:111.6,&quot;width&quot;:806.4}"/>
</p:tagLst>
</file>

<file path=ppt/tags/tag30.xml><?xml version="1.0" encoding="utf-8"?>
<p:tagLst xmlns:p="http://schemas.openxmlformats.org/presentationml/2006/main">
  <p:tag name="KSO_WM_DIAGRAM_VIRTUALLY_FRAME" val="{&quot;height&quot;:338.4,&quot;left&quot;:68.4,&quot;top&quot;:111.6,&quot;width&quot;:806.4}"/>
</p:tagLst>
</file>

<file path=ppt/tags/tag31.xml><?xml version="1.0" encoding="utf-8"?>
<p:tagLst xmlns:p="http://schemas.openxmlformats.org/presentationml/2006/main">
  <p:tag name="KSO_WM_DIAGRAM_VIRTUALLY_FRAME" val="{&quot;height&quot;:291.6,&quot;left&quot;:68.4,&quot;top&quot;:122.4,&quot;width&quot;:806.4}"/>
</p:tagLst>
</file>

<file path=ppt/tags/tag32.xml><?xml version="1.0" encoding="utf-8"?>
<p:tagLst xmlns:p="http://schemas.openxmlformats.org/presentationml/2006/main">
  <p:tag name="KSO_WM_DIAGRAM_VIRTUALLY_FRAME" val="{&quot;height&quot;:291.6,&quot;left&quot;:68.4,&quot;top&quot;:122.4,&quot;width&quot;:806.4}"/>
</p:tagLst>
</file>

<file path=ppt/tags/tag33.xml><?xml version="1.0" encoding="utf-8"?>
<p:tagLst xmlns:p="http://schemas.openxmlformats.org/presentationml/2006/main">
  <p:tag name="KSO_WM_DIAGRAM_VIRTUALLY_FRAME" val="{&quot;height&quot;:291.6,&quot;left&quot;:68.4,&quot;top&quot;:122.4,&quot;width&quot;:806.4}"/>
</p:tagLst>
</file>

<file path=ppt/tags/tag34.xml><?xml version="1.0" encoding="utf-8"?>
<p:tagLst xmlns:p="http://schemas.openxmlformats.org/presentationml/2006/main">
  <p:tag name="KSO_WM_DIAGRAM_VIRTUALLY_FRAME" val="{&quot;height&quot;:291.6,&quot;left&quot;:68.4,&quot;top&quot;:122.4,&quot;width&quot;:806.4}"/>
</p:tagLst>
</file>

<file path=ppt/tags/tag35.xml><?xml version="1.0" encoding="utf-8"?>
<p:tagLst xmlns:p="http://schemas.openxmlformats.org/presentationml/2006/main">
  <p:tag name="KSO_WM_DIAGRAM_VIRTUALLY_FRAME" val="{&quot;height&quot;:291.6,&quot;left&quot;:68.4,&quot;top&quot;:122.4,&quot;width&quot;:806.4}"/>
</p:tagLst>
</file>

<file path=ppt/tags/tag36.xml><?xml version="1.0" encoding="utf-8"?>
<p:tagLst xmlns:p="http://schemas.openxmlformats.org/presentationml/2006/main">
  <p:tag name="KSO_WM_DIAGRAM_VIRTUALLY_FRAME" val="{&quot;height&quot;:291.6,&quot;left&quot;:68.4,&quot;top&quot;:122.4,&quot;width&quot;:806.4}"/>
</p:tagLst>
</file>

<file path=ppt/tags/tag37.xml><?xml version="1.0" encoding="utf-8"?>
<p:tagLst xmlns:p="http://schemas.openxmlformats.org/presentationml/2006/main">
  <p:tag name="KSO_WM_DIAGRAM_VIRTUALLY_FRAME" val="{&quot;height&quot;:291.6,&quot;left&quot;:68.4,&quot;top&quot;:122.4,&quot;width&quot;:806.4}"/>
</p:tagLst>
</file>

<file path=ppt/tags/tag38.xml><?xml version="1.0" encoding="utf-8"?>
<p:tagLst xmlns:p="http://schemas.openxmlformats.org/presentationml/2006/main">
  <p:tag name="KSO_WM_DIAGRAM_VIRTUALLY_FRAME" val="{&quot;height&quot;:291.6,&quot;left&quot;:68.4,&quot;top&quot;:122.4,&quot;width&quot;:806.4}"/>
</p:tagLst>
</file>

<file path=ppt/tags/tag39.xml><?xml version="1.0" encoding="utf-8"?>
<p:tagLst xmlns:p="http://schemas.openxmlformats.org/presentationml/2006/main">
  <p:tag name="KSO_WM_DIAGRAM_VIRTUALLY_FRAME" val="{&quot;height&quot;:291.6,&quot;left&quot;:68.4,&quot;top&quot;:122.4,&quot;width&quot;:806.4}"/>
</p:tagLst>
</file>

<file path=ppt/tags/tag40.xml><?xml version="1.0" encoding="utf-8"?>
<p:tagLst xmlns:p="http://schemas.openxmlformats.org/presentationml/2006/main">
  <p:tag name="KSO_WM_DIAGRAM_VIRTUALLY_FRAME" val="{&quot;height&quot;:291.6,&quot;left&quot;:68.4,&quot;top&quot;:122.4,&quot;width&quot;:806.4}"/>
</p:tagLst>
</file>

<file path=ppt/tags/tag41.xml><?xml version="1.0" encoding="utf-8"?>
<p:tagLst xmlns:p="http://schemas.openxmlformats.org/presentationml/2006/main">
  <p:tag name="KSO_WM_DIAGRAM_VIRTUALLY_FRAME" val="{&quot;height&quot;:291.6,&quot;left&quot;:68.4,&quot;top&quot;:122.4,&quot;width&quot;:806.4}"/>
</p:tagLst>
</file>

<file path=ppt/tags/tag42.xml><?xml version="1.0" encoding="utf-8"?>
<p:tagLst xmlns:p="http://schemas.openxmlformats.org/presentationml/2006/main">
  <p:tag name="KSO_WM_DIAGRAM_VIRTUALLY_FRAME" val="{&quot;height&quot;:291.6,&quot;left&quot;:68.4,&quot;top&quot;:122.4,&quot;width&quot;:806.4}"/>
</p:tagLst>
</file>

<file path=ppt/tags/tag43.xml><?xml version="1.0" encoding="utf-8"?>
<p:tagLst xmlns:p="http://schemas.openxmlformats.org/presentationml/2006/main">
  <p:tag name="KSO_WM_DIAGRAM_VIRTUALLY_FRAME" val="{&quot;height&quot;:291.6,&quot;left&quot;:68.4,&quot;top&quot;:122.4,&quot;width&quot;:806.4}"/>
</p:tagLst>
</file>

<file path=ppt/tags/tag44.xml><?xml version="1.0" encoding="utf-8"?>
<p:tagLst xmlns:p="http://schemas.openxmlformats.org/presentationml/2006/main">
  <p:tag name="KSO_WM_DIAGRAM_VIRTUALLY_FRAME" val="{&quot;height&quot;:291.6,&quot;left&quot;:68.4,&quot;top&quot;:122.4,&quot;width&quot;:806.4}"/>
</p:tagLst>
</file>

<file path=ppt/tags/tag45.xml><?xml version="1.0" encoding="utf-8"?>
<p:tagLst xmlns:p="http://schemas.openxmlformats.org/presentationml/2006/main">
  <p:tag name="KSO_WM_DIAGRAM_VIRTUALLY_FRAME" val="{&quot;height&quot;:291.6,&quot;left&quot;:68.4,&quot;top&quot;:122.4,&quot;width&quot;:806.4}"/>
</p:tagLst>
</file>

<file path=ppt/tags/tag46.xml><?xml version="1.0" encoding="utf-8"?>
<p:tagLst xmlns:p="http://schemas.openxmlformats.org/presentationml/2006/main">
  <p:tag name="KSO_WM_DIAGRAM_VIRTUALLY_FRAME" val="{&quot;height&quot;:291.6,&quot;left&quot;:68.4,&quot;top&quot;:122.4,&quot;width&quot;:806.4}"/>
</p:tagLst>
</file>

<file path=ppt/tags/tag47.xml><?xml version="1.0" encoding="utf-8"?>
<p:tagLst xmlns:p="http://schemas.openxmlformats.org/presentationml/2006/main">
  <p:tag name="KSO_WM_DIAGRAM_VIRTUALLY_FRAME" val="{&quot;height&quot;:291.6,&quot;left&quot;:68.4,&quot;top&quot;:122.4,&quot;width&quot;:806.4}"/>
</p:tagLst>
</file>

<file path=ppt/tags/tag48.xml><?xml version="1.0" encoding="utf-8"?>
<p:tagLst xmlns:p="http://schemas.openxmlformats.org/presentationml/2006/main">
  <p:tag name="KSO_WM_DIAGRAM_VIRTUALLY_FRAME" val="{&quot;height&quot;:291.6,&quot;left&quot;:68.4,&quot;top&quot;:122.4,&quot;width&quot;:806.4}"/>
</p:tagLst>
</file>

<file path=ppt/tags/tag49.xml><?xml version="1.0" encoding="utf-8"?>
<p:tagLst xmlns:p="http://schemas.openxmlformats.org/presentationml/2006/main">
  <p:tag name="KSO_WM_DIAGRAM_VIRTUALLY_FRAME" val="{&quot;height&quot;:291.6,&quot;left&quot;:68.4,&quot;top&quot;:122.4,&quot;width&quot;:806.4}"/>
</p:tagLst>
</file>

<file path=ppt/tags/tag50.xml><?xml version="1.0" encoding="utf-8"?>
<p:tagLst xmlns:p="http://schemas.openxmlformats.org/presentationml/2006/main">
  <p:tag name="KSO_WM_DIAGRAM_VIRTUALLY_FRAME" val="{&quot;height&quot;:291.6,&quot;left&quot;:68.4,&quot;top&quot;:122.4,&quot;width&quot;:806.4}"/>
</p:tagLst>
</file>

<file path=ppt/tags/tag51.xml><?xml version="1.0" encoding="utf-8"?>
<p:tagLst xmlns:p="http://schemas.openxmlformats.org/presentationml/2006/main">
  <p:tag name="KSO_WM_DIAGRAM_VIRTUALLY_FRAME" val="{&quot;height&quot;:291.6,&quot;left&quot;:68.4,&quot;top&quot;:122.4,&quot;width&quot;:806.4}"/>
</p:tagLst>
</file>

<file path=ppt/tags/tag52.xml><?xml version="1.0" encoding="utf-8"?>
<p:tagLst xmlns:p="http://schemas.openxmlformats.org/presentationml/2006/main">
  <p:tag name="KSO_WM_DIAGRAM_VIRTUALLY_FRAME" val="{&quot;height&quot;:291.6,&quot;left&quot;:68.4,&quot;top&quot;:122.4,&quot;width&quot;:806.4}"/>
</p:tagLst>
</file>

<file path=ppt/tags/tag53.xml><?xml version="1.0" encoding="utf-8"?>
<p:tagLst xmlns:p="http://schemas.openxmlformats.org/presentationml/2006/main">
  <p:tag name="KSO_WM_DIAGRAM_VIRTUALLY_FRAME" val="{&quot;height&quot;:291.6,&quot;left&quot;:68.4,&quot;top&quot;:122.4,&quot;width&quot;:806.4}"/>
</p:tagLst>
</file>

<file path=ppt/tags/tag54.xml><?xml version="1.0" encoding="utf-8"?>
<p:tagLst xmlns:p="http://schemas.openxmlformats.org/presentationml/2006/main">
  <p:tag name="KSO_WM_DIAGRAM_VIRTUALLY_FRAME" val="{&quot;height&quot;:291.6,&quot;left&quot;:68.4,&quot;top&quot;:122.4,&quot;width&quot;:806.4}"/>
</p:tagLst>
</file>

<file path=ppt/tags/tag55.xml><?xml version="1.0" encoding="utf-8"?>
<p:tagLst xmlns:p="http://schemas.openxmlformats.org/presentationml/2006/main">
  <p:tag name="KSO_WM_DIAGRAM_VIRTUALLY_FRAME" val="{&quot;height&quot;:291.6,&quot;left&quot;:68.4,&quot;top&quot;:122.4,&quot;width&quot;:806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2741</Words>
  <Application>WPS 演示</Application>
  <PresentationFormat>On-screen Show (16:9)</PresentationFormat>
  <Paragraphs>434</Paragraphs>
  <Slides>26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35" baseType="lpstr">
      <vt:lpstr>Arial</vt:lpstr>
      <vt:lpstr>宋体</vt:lpstr>
      <vt:lpstr>Wingdings</vt:lpstr>
      <vt:lpstr>微软雅黑</vt:lpstr>
      <vt:lpstr>微软雅黑</vt:lpstr>
      <vt:lpstr>Arial Unicode MS</vt:lpstr>
      <vt:lpstr>等线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毕业设计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基于视觉分析的标准操作流程（SOP）管理系统设计与实现</dc:title>
  <dc:creator>OpenAI Codex</dc:creator>
  <dc:subject>毕业设计中期检查</dc:subject>
  <cp:lastModifiedBy>吴恒成</cp:lastModifiedBy>
  <cp:revision>4</cp:revision>
  <dcterms:created xsi:type="dcterms:W3CDTF">2026-04-12T14:11:00Z</dcterms:created>
  <dcterms:modified xsi:type="dcterms:W3CDTF">2026-04-12T15:15:20Z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067E548715A8475F8404C185A65FAA2A_12</vt:lpwstr>
  </property>
  <property fmtid="{D5CDD505-2E9C-101B-9397-08002B2CF9AE}" pid="3" name="KSOProductBuildVer">
    <vt:lpwstr>2052-12.1.0.23542</vt:lpwstr>
  </property>
</Properties>
</file>