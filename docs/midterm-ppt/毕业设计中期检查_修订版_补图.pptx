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基于视觉分析的标准操作流程（SOP）管理系统设计与实现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2487168"/>
            <a:ext cx="3200400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456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班级：XXX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895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日期：2026-04-12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1143000"/>
            <a:ext cx="2377440" cy="3566160"/>
          </a:xfrm>
          <a:prstGeom prst="roundRect">
            <a:avLst>
              <a:gd name="adj" fmla="val 3077"/>
            </a:avLst>
          </a:prstGeom>
          <a:solidFill>
            <a:srgbClr val="F7FAFF"/>
          </a:solidFill>
          <a:ln w="12700">
            <a:solidFill>
              <a:srgbClr val="D9E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1965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中期检查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32520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本次汇报重点介绍中期阶段已经完成的系统功能、当前问题与后续计划。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554480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18965" y="1536192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项目定位与当前阶段成果</a:t>
            </a:r>
            <a:endParaRPr lang="en-US" sz="977" dirty="0"/>
          </a:p>
        </p:txBody>
      </p:sp>
      <p:sp>
        <p:nvSpPr>
          <p:cNvPr id="9" name="Shape 7"/>
          <p:cNvSpPr/>
          <p:nvPr/>
        </p:nvSpPr>
        <p:spPr>
          <a:xfrm>
            <a:off x="914400" y="2249424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40864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18965" y="2322576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系统设计：需求、架构、流程</a:t>
            </a:r>
            <a:endParaRPr lang="en-US" sz="977" dirty="0"/>
          </a:p>
        </p:txBody>
      </p:sp>
      <p:sp>
        <p:nvSpPr>
          <p:cNvPr id="12" name="Shape 10"/>
          <p:cNvSpPr/>
          <p:nvPr/>
        </p:nvSpPr>
        <p:spPr>
          <a:xfrm>
            <a:off x="914400" y="3035808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127248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8965" y="3108960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已实现功能与系统界面展示</a:t>
            </a:r>
            <a:endParaRPr lang="en-US" sz="977" dirty="0"/>
          </a:p>
        </p:txBody>
      </p:sp>
      <p:sp>
        <p:nvSpPr>
          <p:cNvPr id="15" name="Shape 13"/>
          <p:cNvSpPr/>
          <p:nvPr/>
        </p:nvSpPr>
        <p:spPr>
          <a:xfrm>
            <a:off x="914400" y="3822192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913632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8965" y="3895344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接口设计与数据库设计</a:t>
            </a:r>
            <a:endParaRPr lang="en-US" sz="977" dirty="0"/>
          </a:p>
        </p:txBody>
      </p:sp>
      <p:sp>
        <p:nvSpPr>
          <p:cNvPr id="18" name="Shape 16"/>
          <p:cNvSpPr/>
          <p:nvPr/>
        </p:nvSpPr>
        <p:spPr>
          <a:xfrm>
            <a:off x="914400" y="4608576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700016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8965" y="4681728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当前核心问题与下一步计划</a:t>
            </a:r>
            <a:endParaRPr lang="en-US" sz="977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项目定位与当前阶段成果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本项目面向 SOP 执行规范性评测场景，当前已经完成系统主体功能落地。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892040" cy="4389120"/>
          </a:xfrm>
          <a:prstGeom prst="roundRect">
            <a:avLst>
              <a:gd name="adj" fmla="val 166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8836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1051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面向标准操作流程的制定、执行、评测与复核场景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1078992" y="248716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14016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以“完整视频上传 + 多模态智能评测”为主要实现路径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078992" y="3090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17520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目标是形成一个可演示、可管理、可留痕的闭环系统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当前阶段已经完成的工作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8836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81051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完成前后端分离架构搭建，管理端与用户端已可运行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55080" y="248716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414016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完成用户登录、角色权限、SOP 管理与视频上传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6355080" y="309067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01752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完成示范视频预处理、多阶段视频评测与结果后处理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6355080" y="369417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621024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完成异步任务、历史记录、人工复核和统计分析功能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系统需求概览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系统主要围绕管理员和普通用户两类角色展开设计。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管理员侧需求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8836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10512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SOP，配置步骤说明、步骤类型、权重和前置依赖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1078992" y="25054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32304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上传完整示范视频，生成步骤参考信息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1078992" y="312724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54096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查看执行记录并进行人工复核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1078992" y="37490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75888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查看统计分析结果并维护系统配置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普通用户侧需求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36792" y="18836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1810512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查看待执行 SOP 和步骤说明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6336792" y="250545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432304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上传完整执行视频并提交评测任务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6336792" y="312724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3054096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查看任务进度、评测结果和问题说明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6336792" y="374904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3675888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查看历史记录与人工复核结论</a:t>
            </a:r>
            <a:endParaRPr lang="en-US" sz="121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采用前后端分离 + 异步 Worker + 多模态模型调用的整体架构。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7556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 / 用户端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755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84448" y="1938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业务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55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37376" y="1938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 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异步任务处理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4584" y="17556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视频理解与判定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1800" y="2103120"/>
            <a:ext cx="41148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103120"/>
            <a:ext cx="384048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5088" y="2103120"/>
            <a:ext cx="347472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246120"/>
            <a:ext cx="4343400" cy="1874520"/>
          </a:xfrm>
          <a:prstGeom prst="roundRect">
            <a:avLst>
              <a:gd name="adj" fmla="val 39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3355848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数据与媒体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44752" y="3730752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3657600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存储用户、SOP、任务与结果数据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444752" y="416966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9344" y="4096512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本地文件系统存储示范视频、执行视频和关键帧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1444752" y="4608576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9344" y="4535424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为历史查询、统计分析和复核提供支撑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989320" y="3246120"/>
            <a:ext cx="4526280" cy="1874520"/>
          </a:xfrm>
          <a:prstGeom prst="roundRect">
            <a:avLst>
              <a:gd name="adj" fmla="val 39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3355848"/>
            <a:ext cx="4233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9632" y="373075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657600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 / FFmpeg：视频处理与抽帧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199632" y="4169664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4096512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httpx：模型接口调用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6199632" y="4608576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4535424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规则后处理：权重、依赖与问题扣分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核心业务流程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形成“管理员建模—用户执行—系统评测—结果复核”的完整闭环。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92938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管理员创建 SOP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9989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619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4213" y="192938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421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339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上传示范视频并生成参考信息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7410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3714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1730" y="192938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1730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0914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用户上传执行视频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54926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123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9246" y="192938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924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5843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系统异步评测并生成结果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3244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7874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6763" y="192938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676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3594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查看结果、统计分析与人工复核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315468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326440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流程特点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78992" y="368503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3611880"/>
            <a:ext cx="9619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用户一次性上传完整执行视频，减少逐步操作负担。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1078992" y="419709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4123944"/>
            <a:ext cx="9619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系统通过多阶段评测链路完成时序分析、分步判断和全局校验。</a:t>
            </a:r>
            <a:endParaRPr lang="en-US" sz="1160" dirty="0"/>
          </a:p>
        </p:txBody>
      </p:sp>
      <p:sp>
        <p:nvSpPr>
          <p:cNvPr id="36" name="Shape 34"/>
          <p:cNvSpPr/>
          <p:nvPr/>
        </p:nvSpPr>
        <p:spPr>
          <a:xfrm>
            <a:off x="1078992" y="470916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4636008"/>
            <a:ext cx="9619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所有结果均沉淀到历史记录中，支持后续复核与统计分析。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预处理流程图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展示管理员上传完整示范视频后，系统如何生成步骤级参考信息。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1498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管理员创建 SOP，并上传完整流程示范视频。</a:t>
            </a:r>
            <a:endParaRPr lang="en-US" sz="998" dirty="0"/>
          </a:p>
        </p:txBody>
      </p:sp>
      <p:sp>
        <p:nvSpPr>
          <p:cNvPr id="10" name="Shape 8"/>
          <p:cNvSpPr/>
          <p:nvPr/>
        </p:nvSpPr>
        <p:spPr>
          <a:xfrm>
            <a:off x="2880360" y="2633472"/>
            <a:ext cx="50292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701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57530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系统依据步骤描述与流程顺序，识别各步骤的大致时间区间。</a:t>
            </a:r>
            <a:endParaRPr lang="en-US" sz="998" dirty="0"/>
          </a:p>
        </p:txBody>
      </p:sp>
      <p:sp>
        <p:nvSpPr>
          <p:cNvPr id="15" name="Shape 13"/>
          <p:cNvSpPr/>
          <p:nvPr/>
        </p:nvSpPr>
        <p:spPr>
          <a:xfrm>
            <a:off x="5440680" y="2633472"/>
            <a:ext cx="502920" cy="0"/>
          </a:xfrm>
          <a:prstGeom prst="line">
            <a:avLst/>
          </a:prstGeom>
          <a:noFill/>
          <a:ln w="17780">
            <a:solidFill>
              <a:srgbClr val="2C8C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8932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抽帧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13562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从候选区间内抽取关键帧与分析帧，形成视觉参考样本。</a:t>
            </a:r>
            <a:endParaRPr lang="en-US" sz="998" dirty="0"/>
          </a:p>
        </p:txBody>
      </p:sp>
      <p:sp>
        <p:nvSpPr>
          <p:cNvPr id="20" name="Shape 18"/>
          <p:cNvSpPr/>
          <p:nvPr/>
        </p:nvSpPr>
        <p:spPr>
          <a:xfrm>
            <a:off x="8001000" y="2633472"/>
            <a:ext cx="502920" cy="0"/>
          </a:xfrm>
          <a:prstGeom prst="line">
            <a:avLst/>
          </a:prstGeom>
          <a:noFill/>
          <a:ln w="17780">
            <a:solidFill>
              <a:srgbClr val="2AA87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4964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080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69594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生成参考摘要、关键时刻与 ROI 提示，构成步骤参考包。</a:t>
            </a:r>
            <a:endParaRPr lang="en-US" sz="998" dirty="0"/>
          </a:p>
        </p:txBody>
      </p:sp>
      <p:sp>
        <p:nvSpPr>
          <p:cNvPr id="25" name="Shape 23"/>
          <p:cNvSpPr/>
          <p:nvPr/>
        </p:nvSpPr>
        <p:spPr>
          <a:xfrm>
            <a:off x="868680" y="3977640"/>
            <a:ext cx="10241280" cy="1600200"/>
          </a:xfrm>
          <a:prstGeom prst="roundRect">
            <a:avLst>
              <a:gd name="adj" fmla="val 457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408736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8992" y="444398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4370832"/>
            <a:ext cx="9619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该流程的目标是把“整段示范视频”转换为“可用于步骤级比对的标准参考信息”。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1078992" y="482803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43584" y="4754880"/>
            <a:ext cx="9619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预处理结果将直接服务于后续执行视频的分步评测和顺序校验。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1078992" y="52120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43584" y="5138928"/>
            <a:ext cx="9619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当前系统已支持自动生成，后续还会继续优化步骤边界识别与人工微调能力。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总体进展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当前汇报重点不再强调阶段数字，而是展示已经完成的系统功能。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241280" cy="4526280"/>
          </a:xfrm>
          <a:prstGeom prst="roundRect">
            <a:avLst>
              <a:gd name="adj" fmla="val 1616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已实现功能总览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874520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965960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08453" y="194767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用户登录、注册、角色权限控制</a:t>
            </a:r>
            <a:endParaRPr lang="en-US" sz="977" dirty="0"/>
          </a:p>
        </p:txBody>
      </p:sp>
      <p:sp>
        <p:nvSpPr>
          <p:cNvPr id="11" name="Shape 9"/>
          <p:cNvSpPr/>
          <p:nvPr/>
        </p:nvSpPr>
        <p:spPr>
          <a:xfrm>
            <a:off x="1078992" y="2679192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2770632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08453" y="275234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创建、步骤配置、示范视频上传与管理</a:t>
            </a:r>
            <a:endParaRPr lang="en-US" sz="977" dirty="0"/>
          </a:p>
        </p:txBody>
      </p:sp>
      <p:sp>
        <p:nvSpPr>
          <p:cNvPr id="14" name="Shape 12"/>
          <p:cNvSpPr/>
          <p:nvPr/>
        </p:nvSpPr>
        <p:spPr>
          <a:xfrm>
            <a:off x="1078992" y="3483864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575304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08453" y="355701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示范视频预处理与步骤参考信息生成</a:t>
            </a:r>
            <a:endParaRPr lang="en-US" sz="977" dirty="0"/>
          </a:p>
        </p:txBody>
      </p:sp>
      <p:sp>
        <p:nvSpPr>
          <p:cNvPr id="17" name="Shape 15"/>
          <p:cNvSpPr/>
          <p:nvPr/>
        </p:nvSpPr>
        <p:spPr>
          <a:xfrm>
            <a:off x="1078992" y="4288536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79976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08453" y="436168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用户执行视频上传与异步任务处理</a:t>
            </a:r>
            <a:endParaRPr lang="en-US" sz="977" dirty="0"/>
          </a:p>
        </p:txBody>
      </p:sp>
      <p:sp>
        <p:nvSpPr>
          <p:cNvPr id="20" name="Shape 18"/>
          <p:cNvSpPr/>
          <p:nvPr/>
        </p:nvSpPr>
        <p:spPr>
          <a:xfrm>
            <a:off x="5971032" y="1874520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965960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00493" y="194767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多阶段视频评测与规则后处理</a:t>
            </a:r>
            <a:endParaRPr lang="en-US" sz="977" dirty="0"/>
          </a:p>
        </p:txBody>
      </p:sp>
      <p:sp>
        <p:nvSpPr>
          <p:cNvPr id="23" name="Shape 21"/>
          <p:cNvSpPr/>
          <p:nvPr/>
        </p:nvSpPr>
        <p:spPr>
          <a:xfrm>
            <a:off x="5971032" y="2679192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2770632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00493" y="275234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历史记录查询、人工复核与统计分析</a:t>
            </a:r>
            <a:endParaRPr lang="en-US" sz="977" dirty="0"/>
          </a:p>
        </p:txBody>
      </p:sp>
      <p:sp>
        <p:nvSpPr>
          <p:cNvPr id="26" name="Shape 24"/>
          <p:cNvSpPr/>
          <p:nvPr/>
        </p:nvSpPr>
        <p:spPr>
          <a:xfrm>
            <a:off x="5971032" y="3483864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575304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00493" y="355701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评测过程展开显示与结果可解释展示</a:t>
            </a:r>
            <a:endParaRPr lang="en-US" sz="977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已实现功能：管理员端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管理员端主要负责 SOP 建模、示范视频维护与结果管理。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920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47088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列表管理、新建、删除和详情查看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252374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5059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步骤类型、步骤权重、前置依赖与扣分参数配置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312724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54096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完整示范视频上传与步骤级参考信息生成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" y="373075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5760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步骤参考信息手动覆盖和内容修正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阶段评价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1874520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管理员端已经能支撑从 SOP 建模到示范数据维护的主要工作流程，说明系统在“标准参考构建”这一关键环节上已具备可运行能力。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926080"/>
            <a:ext cx="4434840" cy="2240280"/>
          </a:xfrm>
          <a:prstGeom prst="roundRect">
            <a:avLst>
              <a:gd name="adj" fmla="val 2449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090672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管理端界面预留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65392" y="3899916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65392" y="4818888"/>
            <a:ext cx="4105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 SOP 列表页 / 新建 SOP 弹窗截图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已实现功能：用户端与评测端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用户端负责执行与提交，评测端负责任务处理与结果生成。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92024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47088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查看待执行 SOP 任务及步骤说明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252374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5059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上传完整执行视频并创建评测任务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312724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54096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轮询任务进度、日志和失败原因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" y="373075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5760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获取步骤级得分、问题标签与证据说明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评测端特点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94767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874520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采用时序分割—分步评测—全局校验的多阶段设计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6355080" y="2514600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2441448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结合规则后处理得到最终总分和通过结论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355080" y="3081528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008376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支持长视频异步处理，适合实际操作场景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355080" y="3429000"/>
            <a:ext cx="4480560" cy="1554480"/>
          </a:xfrm>
          <a:prstGeom prst="roundRect">
            <a:avLst>
              <a:gd name="adj" fmla="val 3529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3593592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 / 评测页预留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19672" y="4059936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19672" y="4636008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建议放任务页、执行页或进度日志截图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已实现功能：结果闭环与分析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系统已经具备“结果记录—人工复核—统计分析”的后续管理能力。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947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74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保存每次评测的总分、问题标签与步骤结果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1078992" y="25694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963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支持查看执行视频和过程摘要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1078992" y="31912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11810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支撑个人历史查询与回看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370832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5270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90288" y="194767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74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管理员可对结果执行通过 / 不通过 / 需整改处理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590288" y="25694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963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保留人工意见，避免完全依赖单次模型判断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4590288" y="319125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1810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AI 与人工结合的判定闭环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863840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5270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3296" y="194767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1874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SOP 维度统计和问题类型统计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8083296" y="2569464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24963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能够从结果中识别高频异常步骤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8083296" y="3191256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311810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为后续优化 SOP 或培训提供依据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用户侧评估链路流程图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展示普通用户提交执行视频后，系统如何完成异步评估与结果闭环。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82880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14984" y="2240280"/>
            <a:ext cx="15361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 SOP，上传完整执行视频并发起评测。</a:t>
            </a:r>
            <a:endParaRPr lang="en-US" sz="998" dirty="0"/>
          </a:p>
        </p:txBody>
      </p:sp>
      <p:sp>
        <p:nvSpPr>
          <p:cNvPr id="10" name="Shape 8"/>
          <p:cNvSpPr/>
          <p:nvPr/>
        </p:nvSpPr>
        <p:spPr>
          <a:xfrm>
            <a:off x="2743200" y="2450592"/>
            <a:ext cx="457200" cy="0"/>
          </a:xfrm>
          <a:prstGeom prst="line">
            <a:avLst/>
          </a:prstGeom>
          <a:noFill/>
          <a:ln w="17780">
            <a:solidFill>
              <a:srgbClr val="2AA87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78308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建任务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392424" y="2240280"/>
            <a:ext cx="15819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后端创建 evaluation_job，并进入异步处理队列。</a:t>
            </a:r>
            <a:endParaRPr lang="en-US" sz="998" dirty="0"/>
          </a:p>
        </p:txBody>
      </p:sp>
      <p:sp>
        <p:nvSpPr>
          <p:cNvPr id="15" name="Shape 13"/>
          <p:cNvSpPr/>
          <p:nvPr/>
        </p:nvSpPr>
        <p:spPr>
          <a:xfrm>
            <a:off x="5166360" y="2450592"/>
            <a:ext cx="45720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0" y="178308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729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815584" y="2240280"/>
            <a:ext cx="15819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执行时序分析、分步评测和全局校验。</a:t>
            </a:r>
            <a:endParaRPr lang="en-US" sz="998" dirty="0"/>
          </a:p>
        </p:txBody>
      </p:sp>
      <p:sp>
        <p:nvSpPr>
          <p:cNvPr id="20" name="Shape 18"/>
          <p:cNvSpPr/>
          <p:nvPr/>
        </p:nvSpPr>
        <p:spPr>
          <a:xfrm>
            <a:off x="7589520" y="2450592"/>
            <a:ext cx="457200" cy="0"/>
          </a:xfrm>
          <a:prstGeom prst="line">
            <a:avLst/>
          </a:prstGeom>
          <a:noFill/>
          <a:ln w="17780">
            <a:solidFill>
              <a:srgbClr val="E3A00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1783080"/>
            <a:ext cx="192024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045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出结果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238744" y="22402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生成总分、步骤得分、问题标签和证据说明。</a:t>
            </a:r>
            <a:endParaRPr lang="en-US" sz="998" dirty="0"/>
          </a:p>
        </p:txBody>
      </p:sp>
      <p:sp>
        <p:nvSpPr>
          <p:cNvPr id="25" name="Shape 23"/>
          <p:cNvSpPr/>
          <p:nvPr/>
        </p:nvSpPr>
        <p:spPr>
          <a:xfrm>
            <a:off x="10040112" y="2450592"/>
            <a:ext cx="347472" cy="0"/>
          </a:xfrm>
          <a:prstGeom prst="line">
            <a:avLst/>
          </a:prstGeom>
          <a:noFill/>
          <a:ln w="17780">
            <a:solidFill>
              <a:srgbClr val="2C8C7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" y="3840480"/>
            <a:ext cx="182880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" y="39502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40050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留痕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014984" y="4297680"/>
            <a:ext cx="15361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结果写入历史记录，支持后续查询和人工复核。</a:t>
            </a:r>
            <a:endParaRPr lang="en-US" sz="998" dirty="0"/>
          </a:p>
        </p:txBody>
      </p:sp>
      <p:sp>
        <p:nvSpPr>
          <p:cNvPr id="30" name="Shape 28"/>
          <p:cNvSpPr/>
          <p:nvPr/>
        </p:nvSpPr>
        <p:spPr>
          <a:xfrm>
            <a:off x="2743200" y="4507992"/>
            <a:ext cx="457200" cy="0"/>
          </a:xfrm>
          <a:prstGeom prst="line">
            <a:avLst/>
          </a:prstGeom>
          <a:noFill/>
          <a:ln w="17780">
            <a:solidFill>
              <a:srgbClr val="113A8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246120" y="384048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39502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40050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392424" y="4297680"/>
            <a:ext cx="15819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前端展示任务进度、日志、评估结果和历史信息。</a:t>
            </a:r>
            <a:endParaRPr lang="en-US" sz="998" dirty="0"/>
          </a:p>
        </p:txBody>
      </p:sp>
      <p:sp>
        <p:nvSpPr>
          <p:cNvPr id="35" name="Shape 33"/>
          <p:cNvSpPr/>
          <p:nvPr/>
        </p:nvSpPr>
        <p:spPr>
          <a:xfrm>
            <a:off x="5669280" y="38404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15584" y="3950208"/>
            <a:ext cx="5148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链路特点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97880" y="4206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413308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用户侧采用完整视频一次性上传，避免逐步骤提交的复杂操作。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5897880" y="448056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40740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任务处理采用异步机制，适合视频评估这一耗时场景。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897880" y="47548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68172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最终形成“提交—评估—展示—留痕”的闭环链路。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接口按认证、SOP、评测、历史与统计等模块划分，支撑系统主要业务流程。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主要接口及作用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182880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/api/auth/*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完成登录、注册、当前用户查询与退出</a:t>
            </a:r>
            <a:endParaRPr lang="en-US" sz="977" dirty="0"/>
          </a:p>
        </p:txBody>
      </p:sp>
      <p:sp>
        <p:nvSpPr>
          <p:cNvPr id="11" name="Shape 9"/>
          <p:cNvSpPr/>
          <p:nvPr/>
        </p:nvSpPr>
        <p:spPr>
          <a:xfrm>
            <a:off x="1051560" y="233172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/api/users / /api/config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管理员维护用户状态与模型参数配置</a:t>
            </a:r>
            <a:endParaRPr lang="en-US" sz="977" dirty="0"/>
          </a:p>
        </p:txBody>
      </p:sp>
      <p:sp>
        <p:nvSpPr>
          <p:cNvPr id="14" name="Shape 12"/>
          <p:cNvSpPr/>
          <p:nvPr/>
        </p:nvSpPr>
        <p:spPr>
          <a:xfrm>
            <a:off x="1051560" y="283464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/api/sops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7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列表、详情、新建、删除与步骤参考维护</a:t>
            </a:r>
            <a:endParaRPr lang="en-US" sz="977" dirty="0"/>
          </a:p>
        </p:txBody>
      </p:sp>
      <p:sp>
        <p:nvSpPr>
          <p:cNvPr id="17" name="Shape 15"/>
          <p:cNvSpPr/>
          <p:nvPr/>
        </p:nvSpPr>
        <p:spPr>
          <a:xfrm>
            <a:off x="1051560" y="333756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/api/sops/{id}/evaluation-jobs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创建评测任务并提交用户视频</a:t>
            </a:r>
            <a:endParaRPr lang="en-US" sz="977" dirty="0"/>
          </a:p>
        </p:txBody>
      </p:sp>
      <p:sp>
        <p:nvSpPr>
          <p:cNvPr id="20" name="Shape 18"/>
          <p:cNvSpPr/>
          <p:nvPr/>
        </p:nvSpPr>
        <p:spPr>
          <a:xfrm>
            <a:off x="1051560" y="384048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/api/evaluation-jobs/*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查询任务状态、进度日志与失败原因</a:t>
            </a:r>
            <a:endParaRPr lang="en-US" sz="977" dirty="0"/>
          </a:p>
        </p:txBody>
      </p:sp>
      <p:sp>
        <p:nvSpPr>
          <p:cNvPr id="23" name="Shape 21"/>
          <p:cNvSpPr/>
          <p:nvPr/>
        </p:nvSpPr>
        <p:spPr>
          <a:xfrm>
            <a:off x="1051560" y="434340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/api/history / /api/stats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97480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历史记录查询、人工复核与统计分析</a:t>
            </a:r>
            <a:endParaRPr lang="en-US" sz="977" dirty="0"/>
          </a:p>
        </p:txBody>
      </p:sp>
      <p:sp>
        <p:nvSpPr>
          <p:cNvPr id="26" name="Shape 24"/>
          <p:cNvSpPr/>
          <p:nvPr/>
        </p:nvSpPr>
        <p:spPr>
          <a:xfrm>
            <a:off x="1051560" y="484632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9576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/api/media/{id}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9748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按权限访问示范视频、执行视频与关键帧资源</a:t>
            </a:r>
            <a:endParaRPr lang="en-US" sz="977" dirty="0"/>
          </a:p>
        </p:txBody>
      </p:sp>
      <p:sp>
        <p:nvSpPr>
          <p:cNvPr id="29" name="Shape 27"/>
          <p:cNvSpPr/>
          <p:nvPr/>
        </p:nvSpPr>
        <p:spPr>
          <a:xfrm>
            <a:off x="61264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接口设计特点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901952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182880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接口结构与前端页面职责保持一致，便于联调和后续维护。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6355080" y="2505456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2432304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评测任务和历史记录分离，既满足异步处理也方便结果留痕。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6355080" y="3108960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3035808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媒体资源通过统一接口按权限访问，便于示范视频和执行视频复用。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363931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相关接口不仅服务于基础增删改查，还承载参考信息维护能力。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数据库围绕用户、SOP、媒体、任务、执行结果和复核记录建立关联。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核心数据表及作用（一）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1810512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1901952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13939" y="1883664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保存用户账号、角色和状态信息</a:t>
            </a:r>
            <a:endParaRPr lang="en-US" sz="977" dirty="0"/>
          </a:p>
        </p:txBody>
      </p:sp>
      <p:sp>
        <p:nvSpPr>
          <p:cNvPr id="11" name="Shape 9"/>
          <p:cNvSpPr/>
          <p:nvPr/>
        </p:nvSpPr>
        <p:spPr>
          <a:xfrm>
            <a:off x="1051560" y="2377440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68880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user_login_sessions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13939" y="2450592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保存登录会话与当前在线状态</a:t>
            </a:r>
            <a:endParaRPr lang="en-US" sz="977" dirty="0"/>
          </a:p>
        </p:txBody>
      </p:sp>
      <p:sp>
        <p:nvSpPr>
          <p:cNvPr id="14" name="Shape 12"/>
          <p:cNvSpPr/>
          <p:nvPr/>
        </p:nvSpPr>
        <p:spPr>
          <a:xfrm>
            <a:off x="1051560" y="2944368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3035808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ai_configs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13939" y="301752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保存模型接口相关配置</a:t>
            </a:r>
            <a:endParaRPr lang="en-US" sz="977" dirty="0"/>
          </a:p>
        </p:txBody>
      </p:sp>
      <p:sp>
        <p:nvSpPr>
          <p:cNvPr id="17" name="Shape 15"/>
          <p:cNvSpPr/>
          <p:nvPr/>
        </p:nvSpPr>
        <p:spPr>
          <a:xfrm>
            <a:off x="1051560" y="3511296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3602736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13939" y="3584448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SOP 主体信息</a:t>
            </a:r>
            <a:endParaRPr lang="en-US" sz="977" dirty="0"/>
          </a:p>
        </p:txBody>
      </p:sp>
      <p:sp>
        <p:nvSpPr>
          <p:cNvPr id="20" name="Shape 18"/>
          <p:cNvSpPr/>
          <p:nvPr/>
        </p:nvSpPr>
        <p:spPr>
          <a:xfrm>
            <a:off x="1051560" y="4078224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4169664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13939" y="415137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保存步骤描述、类型、权重等信息</a:t>
            </a:r>
            <a:endParaRPr lang="en-US" sz="977" dirty="0"/>
          </a:p>
        </p:txBody>
      </p:sp>
      <p:sp>
        <p:nvSpPr>
          <p:cNvPr id="23" name="Shape 21"/>
          <p:cNvSpPr/>
          <p:nvPr/>
        </p:nvSpPr>
        <p:spPr>
          <a:xfrm>
            <a:off x="1051560" y="4645152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4736592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sop_step_prerequisites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13939" y="4718304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保存步骤前置依赖关系</a:t>
            </a:r>
            <a:endParaRPr lang="en-US" sz="977" dirty="0"/>
          </a:p>
        </p:txBody>
      </p:sp>
      <p:sp>
        <p:nvSpPr>
          <p:cNvPr id="26" name="Shape 24"/>
          <p:cNvSpPr/>
          <p:nvPr/>
        </p:nvSpPr>
        <p:spPr>
          <a:xfrm>
            <a:off x="6126480" y="14173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核心数据表及作用（二）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810512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190195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media_files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71739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保存示范视频、执行视频和媒体索引</a:t>
            </a:r>
            <a:endParaRPr lang="en-US" sz="977" dirty="0"/>
          </a:p>
        </p:txBody>
      </p:sp>
      <p:sp>
        <p:nvSpPr>
          <p:cNvPr id="31" name="Shape 29"/>
          <p:cNvSpPr/>
          <p:nvPr/>
        </p:nvSpPr>
        <p:spPr>
          <a:xfrm>
            <a:off x="6309360" y="2304288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2395728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sop_step_keyframes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71739" y="23774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保存步骤关键帧数据</a:t>
            </a:r>
            <a:endParaRPr lang="en-US" sz="977" dirty="0"/>
          </a:p>
        </p:txBody>
      </p:sp>
      <p:sp>
        <p:nvSpPr>
          <p:cNvPr id="34" name="Shape 32"/>
          <p:cNvSpPr/>
          <p:nvPr/>
        </p:nvSpPr>
        <p:spPr>
          <a:xfrm>
            <a:off x="6309360" y="2798064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889504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sop_step_substeps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71739" y="287121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保存关键时刻与时间点信息</a:t>
            </a:r>
            <a:endParaRPr lang="en-US" sz="977" dirty="0"/>
          </a:p>
        </p:txBody>
      </p:sp>
      <p:sp>
        <p:nvSpPr>
          <p:cNvPr id="37" name="Shape 35"/>
          <p:cNvSpPr/>
          <p:nvPr/>
        </p:nvSpPr>
        <p:spPr>
          <a:xfrm>
            <a:off x="6309360" y="3291840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3383280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evaluation_jobs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71739" y="33649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保存异步评测任务及状态</a:t>
            </a:r>
            <a:endParaRPr lang="en-US" sz="977" dirty="0"/>
          </a:p>
        </p:txBody>
      </p:sp>
      <p:sp>
        <p:nvSpPr>
          <p:cNvPr id="40" name="Shape 38"/>
          <p:cNvSpPr/>
          <p:nvPr/>
        </p:nvSpPr>
        <p:spPr>
          <a:xfrm>
            <a:off x="6309360" y="3785616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3877056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sop_executions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71739" y="385876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保存每次执行与总体评测结果</a:t>
            </a:r>
            <a:endParaRPr lang="en-US" sz="977" dirty="0"/>
          </a:p>
        </p:txBody>
      </p:sp>
      <p:sp>
        <p:nvSpPr>
          <p:cNvPr id="43" name="Shape 41"/>
          <p:cNvSpPr/>
          <p:nvPr/>
        </p:nvSpPr>
        <p:spPr>
          <a:xfrm>
            <a:off x="6309360" y="4279392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437083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execution_step_results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71739" y="435254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保存步骤级得分与证据</a:t>
            </a:r>
            <a:endParaRPr lang="en-US" sz="977" dirty="0"/>
          </a:p>
        </p:txBody>
      </p:sp>
      <p:sp>
        <p:nvSpPr>
          <p:cNvPr id="46" name="Shape 44"/>
          <p:cNvSpPr/>
          <p:nvPr/>
        </p:nvSpPr>
        <p:spPr>
          <a:xfrm>
            <a:off x="6309360" y="4773168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4864608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manual_reviews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71739" y="48463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保存人工复核结论与备注</a:t>
            </a:r>
            <a:endParaRPr lang="en-US" sz="977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系统界面展示：管理端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预留大面积空间用于放置系统截图。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681228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管理端主界面截图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3534156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5596128"/>
            <a:ext cx="6483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 SOP 列表 / 数据统计 / 复核界面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73568" y="141732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58191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局部截图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234543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3218688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建议放新建 SOP 弹窗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379476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95935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局部截图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472287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5596128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建议放步骤配置或参考信息维护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系统界面展示：用户端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预留执行流程和任务页的展示空间。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用户端任务页截图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3534156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5596128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建议放任务列表 / 上传视频页面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581912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任务进度截图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072" y="3534156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91072" y="5596128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建议放异步任务状态、日志或轮询结果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系统界面展示：评测结果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预留结果页、历史记录和过程展开的展示空间。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662940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6300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结果页截图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3534156"/>
            <a:ext cx="6300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5596128"/>
            <a:ext cx="6300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建议放总分、步骤得分、问题标签和时间轴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54112" y="141732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18704" y="158191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历史记录截图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18704" y="234543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18704" y="321868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建议放历史页或复核结论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54112" y="379476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395935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过程展开截图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18704" y="472287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18704" y="559612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建议放评测过程或 Token 信息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当前存在的核心问题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问题聚焦于项目本身的评测效果、建模精度和场景适应能力。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6824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72821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700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评测结果稳定性仍不足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4984" y="199339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不同拍摄角度、光照、遮挡和清晰度条件下，同一动作的判断结果仍可能波动。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68680" y="2880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300837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305409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3026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复杂时序动作识别难度较高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4984" y="331927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对于顺序依赖强、步骤衔接紧密的 SOP，步骤定位和顺序判断仍可能偏差。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" y="433425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437997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4352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示范视频到步骤映射仍不够精细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4984" y="464515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完整流程视频自动切分虽已实现，但部分步骤边界不明显，影响参考质量。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89320" y="15544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35624" y="16824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72821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1700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系统场景泛化能力仍有待提升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35624" y="199339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当操作对象、拍摄环境或流程类型变化较大时，模型适应性仍需增强。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989320" y="2880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300837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05409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3026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评测解释性仍可继续增强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35624" y="331927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目前已能输出得分和证据，但“错在哪里、如何改进”还可以表达得更直观。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改进措施与下一步计划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下一阶段重点从“功能搭建”转向“效果优化”和“展示完善”。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92938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优化评测提示词与判定规则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9989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619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4213" y="192938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421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339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增强时序分析能力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7410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3714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1730" y="192938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1730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0914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改进参考信息生成方式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54926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123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9246" y="192938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924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5843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扩展多场景样本与 SOP 类型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3244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7874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6763" y="192938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676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3594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强化结果展示与反馈能力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3154680"/>
            <a:ext cx="10241280" cy="1920240"/>
          </a:xfrm>
          <a:prstGeom prst="roundRect">
            <a:avLst>
              <a:gd name="adj" fmla="val 381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326440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具体计划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78992" y="362102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3547872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补充关键动作、顺序约束和异常情况的判定规则，提高模型判断一致性。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1078992" y="393192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3858768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继续优化短时动作、相邻步骤和前置依赖步骤的识别与定位效果。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1078992" y="424281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4169664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优化关键帧、关键时刻和 ROI 提取策略，必要时保留人工微调入口。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1078992" y="455371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3584" y="4480560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增加不同场景和不同流程类型样本，提升系统泛化能力和适用范围。</a:t>
            </a:r>
            <a:endParaRPr lang="en-US" sz="1090" dirty="0"/>
          </a:p>
        </p:txBody>
      </p:sp>
      <p:sp>
        <p:nvSpPr>
          <p:cNvPr id="40" name="Shape 38"/>
          <p:cNvSpPr/>
          <p:nvPr/>
        </p:nvSpPr>
        <p:spPr>
          <a:xfrm>
            <a:off x="1078992" y="486460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43584" y="4791456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让结果页与时间轴、问题片段和改进建议之间形成更清晰的对应关系。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A"/>
          </a:solidFill>
          <a:ln w="12700">
            <a:solidFill>
              <a:srgbClr val="0C1C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感谢老师的指导与评阅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83880" y="132588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15305F"/>
          </a:solidFill>
          <a:ln w="12700">
            <a:solidFill>
              <a:srgbClr val="3153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65379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60175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毕业设计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基于视觉分析的标准操作流程（SOP）管理系统设计与实现</dc:title>
  <dc:subject>毕业设计中期检查</dc:subject>
  <dc:creator>OpenAI Codex</dc:creator>
  <cp:lastModifiedBy>OpenAI Codex</cp:lastModifiedBy>
  <cp:revision>1</cp:revision>
  <dcterms:created xsi:type="dcterms:W3CDTF">2026-04-13T04:06:33Z</dcterms:created>
  <dcterms:modified xsi:type="dcterms:W3CDTF">2026-04-13T04:06:33Z</dcterms:modified>
</cp:coreProperties>
</file>