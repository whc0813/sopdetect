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C3A"/>
          </a:solidFill>
          <a:ln w="12700">
            <a:solidFill>
              <a:srgbClr val="0C1C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AA7FF"/>
          </a:solidFill>
          <a:ln w="12700">
            <a:solidFill>
              <a:srgbClr val="3AA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9975" y="164592"/>
            <a:ext cx="1783080" cy="1783080"/>
          </a:xfrm>
          <a:prstGeom prst="ellipse">
            <a:avLst/>
          </a:prstGeom>
          <a:solidFill>
            <a:srgbClr val="17305F">
              <a:alpha val="85000"/>
            </a:srgbClr>
          </a:solidFill>
          <a:ln w="12700">
            <a:solidFill>
              <a:srgbClr val="17305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303520"/>
            <a:ext cx="1143000" cy="1143000"/>
          </a:xfrm>
          <a:prstGeom prst="ellipse">
            <a:avLst/>
          </a:prstGeom>
          <a:solidFill>
            <a:srgbClr val="183868">
              <a:alpha val="90000"/>
            </a:srgbClr>
          </a:solidFill>
          <a:ln w="12700">
            <a:solidFill>
              <a:srgbClr val="18386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82296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3AA7FF"/>
          </a:solidFill>
          <a:ln w="12700">
            <a:solidFill>
              <a:srgbClr val="3AA7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896112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中期检查汇报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1298448"/>
            <a:ext cx="6720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基于视觉分析的标准操作流程（SOP）管理系统设计与实现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76656" y="239572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围绕“标准流程定义—视频执行采集—多模态智能评测—结果复核与统计分析”构建可运行的完整系统闭环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4944" y="306324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" y="3063240"/>
            <a:ext cx="73152" cy="960120"/>
          </a:xfrm>
          <a:prstGeom prst="rect">
            <a:avLst/>
          </a:prstGeom>
          <a:solidFill>
            <a:srgbClr val="3AA7FF"/>
          </a:solidFill>
          <a:ln w="12700">
            <a:solidFill>
              <a:srgbClr val="3AA7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320040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59536" y="363016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整体完成进度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87168" y="306324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87168" y="3063240"/>
            <a:ext cx="73152" cy="960120"/>
          </a:xfrm>
          <a:prstGeom prst="rect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320040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22页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651760" y="363016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汇报内容规模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79392" y="306324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79392" y="3063240"/>
            <a:ext cx="73152" cy="960120"/>
          </a:xfrm>
          <a:prstGeom prst="rect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43984" y="3200400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前后端闭环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443984" y="3630168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阶段成果状态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26680" y="960120"/>
            <a:ext cx="3749040" cy="4160520"/>
          </a:xfrm>
          <a:prstGeom prst="roundRect">
            <a:avLst>
              <a:gd name="adj" fmla="val 1951"/>
            </a:avLst>
          </a:prstGeom>
          <a:solidFill>
            <a:srgbClr val="15305F"/>
          </a:solidFill>
          <a:ln w="12700">
            <a:solidFill>
              <a:srgbClr val="3153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73568" y="11704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项目关键词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73568" y="1481328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3AA7FF"/>
          </a:solidFill>
          <a:ln w="12700">
            <a:solidFill>
              <a:srgbClr val="3AA7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1527048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+ FastAPI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973568" y="1956816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2002536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+ OpenCV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973568" y="2432304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2478024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多模态视频理解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973568" y="290779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0" y="2953512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异步评测任务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973568" y="33832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7B8CFF"/>
          </a:solidFill>
          <a:ln w="12700">
            <a:solidFill>
              <a:srgbClr val="7B8C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0" y="3429000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人工复核与统计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973568" y="4041648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项目已经完成主体架构搭建与核心业务联调，当前重点转入评测稳定性、时序识别精度、场景泛化能力以及结果解释性优化。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4944" y="58064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汇报人：XXX    专业：XXX    指导教师：XXX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653796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460175" y="652881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9975" y="164592"/>
            <a:ext cx="1783080" cy="1783080"/>
          </a:xfrm>
          <a:prstGeom prst="ellipse">
            <a:avLst/>
          </a:prstGeom>
          <a:solidFill>
            <a:srgbClr val="D8E8FF">
              <a:alpha val="85000"/>
            </a:srgbClr>
          </a:solidFill>
          <a:ln w="12700">
            <a:solidFill>
              <a:srgbClr val="D8E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303520"/>
            <a:ext cx="1143000" cy="1143000"/>
          </a:xfrm>
          <a:prstGeom prst="ellipse">
            <a:avLst/>
          </a:prstGeom>
          <a:solidFill>
            <a:srgbClr val="E8F0FF">
              <a:alpha val="90000"/>
            </a:srgbClr>
          </a:solidFill>
          <a:ln w="12700">
            <a:solidFill>
              <a:srgbClr val="E8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汇报目录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围绕背景、方案、实现进度、存在问题和后续计划展开。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9966960" cy="566928"/>
          </a:xfrm>
          <a:prstGeom prst="roundRect">
            <a:avLst>
              <a:gd name="adj" fmla="val 1290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1536192"/>
            <a:ext cx="292608" cy="29260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581912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572768" y="155448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课题背景与研究目标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14400" y="2240280"/>
            <a:ext cx="9966960" cy="566928"/>
          </a:xfrm>
          <a:prstGeom prst="roundRect">
            <a:avLst>
              <a:gd name="adj" fmla="val 12903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2359152"/>
            <a:ext cx="292608" cy="29260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404872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572768" y="237744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系统需求与总体设计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14400" y="3063240"/>
            <a:ext cx="9966960" cy="566928"/>
          </a:xfrm>
          <a:prstGeom prst="roundRect">
            <a:avLst>
              <a:gd name="adj" fmla="val 1290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3182112"/>
            <a:ext cx="292608" cy="29260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227832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572768" y="320040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核心功能实现与阶段成果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14400" y="3886200"/>
            <a:ext cx="9966960" cy="566928"/>
          </a:xfrm>
          <a:prstGeom prst="roundRect">
            <a:avLst>
              <a:gd name="adj" fmla="val 12903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4005072"/>
            <a:ext cx="292608" cy="29260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050792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572768" y="402336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项目进度与当前存在的问题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914400" y="4709160"/>
            <a:ext cx="9966960" cy="566928"/>
          </a:xfrm>
          <a:prstGeom prst="roundRect">
            <a:avLst>
              <a:gd name="adj" fmla="val 1290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" y="4828032"/>
            <a:ext cx="292608" cy="29260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873752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572768" y="484632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改进措施与下一步计划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9975" y="164592"/>
            <a:ext cx="1783080" cy="1783080"/>
          </a:xfrm>
          <a:prstGeom prst="ellipse">
            <a:avLst/>
          </a:prstGeom>
          <a:solidFill>
            <a:srgbClr val="D8E8FF">
              <a:alpha val="85000"/>
            </a:srgbClr>
          </a:solidFill>
          <a:ln w="12700">
            <a:solidFill>
              <a:srgbClr val="D8E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303520"/>
            <a:ext cx="1143000" cy="1143000"/>
          </a:xfrm>
          <a:prstGeom prst="ellipse">
            <a:avLst/>
          </a:prstGeom>
          <a:solidFill>
            <a:srgbClr val="E8F0FF">
              <a:alpha val="90000"/>
            </a:srgbClr>
          </a:solidFill>
          <a:ln w="12700">
            <a:solidFill>
              <a:srgbClr val="E8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课题背景与研究意义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以标准流程执行监督为切入点，探索多模态视频理解在规范化管理中的应用。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132588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7552" y="1453896"/>
            <a:ext cx="566928" cy="5669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64208" y="149047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应用背景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87552" y="2130552"/>
            <a:ext cx="31455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在实验操作、设备巡检、医疗护理等场景中，SOP 是保障质量与安全的关键依据，但实际执行监管仍以人工观察为主。</a:t>
            </a:r>
            <a:endParaRPr lang="en-US" sz="1017" dirty="0"/>
          </a:p>
        </p:txBody>
      </p:sp>
      <p:sp>
        <p:nvSpPr>
          <p:cNvPr id="12" name="Shape 9"/>
          <p:cNvSpPr/>
          <p:nvPr/>
        </p:nvSpPr>
        <p:spPr>
          <a:xfrm>
            <a:off x="4480560" y="132588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5152" y="1453896"/>
            <a:ext cx="566928" cy="5669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21808" y="149047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现实痛点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645152" y="2130552"/>
            <a:ext cx="31455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人工考核效率低、主观性强、难以持续留痕；视频虽然能记录过程，但缺乏结构化分析能力，难以直接支撑评价。</a:t>
            </a:r>
            <a:endParaRPr lang="en-US" sz="1017" dirty="0"/>
          </a:p>
        </p:txBody>
      </p:sp>
      <p:sp>
        <p:nvSpPr>
          <p:cNvPr id="16" name="Shape 12"/>
          <p:cNvSpPr/>
          <p:nvPr/>
        </p:nvSpPr>
        <p:spPr>
          <a:xfrm>
            <a:off x="8138160" y="132588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2752" y="1453896"/>
            <a:ext cx="566928" cy="5669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79408" y="149047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研究意义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302752" y="2130552"/>
            <a:ext cx="28712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SOP 管理、视频分析与智能评测结合起来，可提升流程监督效率，增强结果的规范性、可追溯性与可复核性。</a:t>
            </a:r>
            <a:endParaRPr lang="en-US" sz="1017" dirty="0"/>
          </a:p>
        </p:txBody>
      </p:sp>
      <p:sp>
        <p:nvSpPr>
          <p:cNvPr id="20" name="Shape 15"/>
          <p:cNvSpPr/>
          <p:nvPr/>
        </p:nvSpPr>
        <p:spPr>
          <a:xfrm>
            <a:off x="822960" y="3246120"/>
            <a:ext cx="10469880" cy="2057400"/>
          </a:xfrm>
          <a:prstGeom prst="roundRect">
            <a:avLst>
              <a:gd name="adj" fmla="val 3556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69264" y="3355848"/>
            <a:ext cx="10177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本课题试图解决的核心问题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1051560" y="3794760"/>
            <a:ext cx="3240024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179576" y="3941064"/>
            <a:ext cx="256032" cy="25603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179576" y="398678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508760" y="3913632"/>
            <a:ext cx="2673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如何把抽象的 SOP 文本描述转换为可执行、可管理、可评测的标准流程对象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291584" y="418795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437888" y="3794760"/>
            <a:ext cx="3240024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565904" y="3941064"/>
            <a:ext cx="256032" cy="256032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565904" y="398678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4895088" y="3913632"/>
            <a:ext cx="2673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如何利用示范视频与执行视频构建统一参考，实现步骤级别的自动判定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7677912" y="418795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824216" y="3794760"/>
            <a:ext cx="3240024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952232" y="3941064"/>
            <a:ext cx="256032" cy="256032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7952232" y="398678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8281416" y="3913632"/>
            <a:ext cx="2673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如何在给出总分的同时输出问题类型、证据说明和后续整改建议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9975" y="164592"/>
            <a:ext cx="1783080" cy="1783080"/>
          </a:xfrm>
          <a:prstGeom prst="ellipse">
            <a:avLst/>
          </a:prstGeom>
          <a:solidFill>
            <a:srgbClr val="D8E8FF">
              <a:alpha val="85000"/>
            </a:srgbClr>
          </a:solidFill>
          <a:ln w="12700">
            <a:solidFill>
              <a:srgbClr val="D8E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303520"/>
            <a:ext cx="1143000" cy="1143000"/>
          </a:xfrm>
          <a:prstGeom prst="ellipse">
            <a:avLst/>
          </a:prstGeom>
          <a:solidFill>
            <a:srgbClr val="E8F0FF">
              <a:alpha val="90000"/>
            </a:srgbClr>
          </a:solidFill>
          <a:ln w="12700">
            <a:solidFill>
              <a:srgbClr val="E8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研究目标与主要研究内容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从系统建设视角拆解为管理端、执行端、评测端和数据端四个方面。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13258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435608"/>
            <a:ext cx="4965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总体目标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51560" y="182880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6152" y="1755648"/>
            <a:ext cx="4590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设计并实现一个面向 SOP 场景的视频化管理与评测系统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51560" y="2304288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2231136"/>
            <a:ext cx="4590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实现“标准流程制定—执行视频上传—智能评测—人工复核”的业务闭环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51560" y="277977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2706624"/>
            <a:ext cx="4590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验证多模态模型在流程执行规范性判断中的可行性与应用价值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1325880"/>
            <a:ext cx="4983480" cy="2148840"/>
          </a:xfrm>
          <a:prstGeom prst="roundRect">
            <a:avLst>
              <a:gd name="adj" fmla="val 3404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143560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主要研究内容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37960" y="182880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175564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数据结构设计与管理端功能实现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224028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2552" y="216712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示范视频预处理与步骤参考信息生成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265176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02552" y="257860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多阶段视频评测流程设计与结果后处理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306324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02552" y="299008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执行记录、统计分析与人工复核机制实现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3794760"/>
            <a:ext cx="10469880" cy="1417320"/>
          </a:xfrm>
          <a:prstGeom prst="roundRect">
            <a:avLst>
              <a:gd name="adj" fmla="val 5161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" y="3904488"/>
            <a:ext cx="10177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功能目标拆解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51560" y="4160520"/>
            <a:ext cx="2212848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61288" y="4270248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4440" y="4315968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61288" y="459028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创建、步骤配置、示范视频上传、AI 参数配置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3584448" y="4160520"/>
            <a:ext cx="2212848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94176" y="4270248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67328" y="4315968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执行端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94176" y="459028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查看任务、上传视频、获取评测结果与历史记录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6117336" y="4160520"/>
            <a:ext cx="2212848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27064" y="4270248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0216" y="4315968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评测端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27064" y="459028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时序分析、分步评测、顺序校验、规则后处理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8650224" y="4160520"/>
            <a:ext cx="2212848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59952" y="4270248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33104" y="4315968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数据端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759952" y="459028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结果存储、问题统计、人工复核与过程可解释展示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9975" y="164592"/>
            <a:ext cx="1783080" cy="1783080"/>
          </a:xfrm>
          <a:prstGeom prst="ellipse">
            <a:avLst/>
          </a:prstGeom>
          <a:solidFill>
            <a:srgbClr val="D8E8FF">
              <a:alpha val="85000"/>
            </a:srgbClr>
          </a:solidFill>
          <a:ln w="12700">
            <a:solidFill>
              <a:srgbClr val="D8E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303520"/>
            <a:ext cx="1143000" cy="1143000"/>
          </a:xfrm>
          <a:prstGeom prst="ellipse">
            <a:avLst/>
          </a:prstGeom>
          <a:solidFill>
            <a:srgbClr val="E8F0FF">
              <a:alpha val="90000"/>
            </a:srgbClr>
          </a:solidFill>
          <a:ln w="12700">
            <a:solidFill>
              <a:srgbClr val="E8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系统需求分析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系统面向管理员和普通用户两类角色，不同角色承担不同业务职责。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1325880"/>
            <a:ext cx="4983480" cy="3429000"/>
          </a:xfrm>
          <a:prstGeom prst="roundRect">
            <a:avLst>
              <a:gd name="adj" fmla="val 213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43560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管理员需求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51560" y="185623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6152" y="1783080"/>
            <a:ext cx="4361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 SOP，定义步骤描述、步骤类型、步骤权重和前置依赖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1051560" y="238658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2313432"/>
            <a:ext cx="4361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上传完整示范视频，生成参考帧、关键时刻和 ROI 提示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1051560" y="291693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2843784"/>
            <a:ext cx="4361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查看执行记录，对 AI 评测结果进行人工复核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1051560" y="3447288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6152" y="3374136"/>
            <a:ext cx="4361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查看统计分析结果，并维护用户与模型配置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6126480" y="1325880"/>
            <a:ext cx="5166360" cy="3429000"/>
          </a:xfrm>
          <a:prstGeom prst="roundRect">
            <a:avLst>
              <a:gd name="adj" fmla="val 213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2784" y="1435608"/>
            <a:ext cx="4873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普通用户需求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1856232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1783080"/>
            <a:ext cx="4453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登录系统并浏览待执行 SOP 任务列表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6355080" y="2386584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313432"/>
            <a:ext cx="4453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查看流程步骤说明和参考信息，上传完整执行视频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355080" y="2916936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9672" y="2843784"/>
            <a:ext cx="4453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跟踪异步评测进度，查看得分、问题标签和证据说明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355080" y="3447288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9672" y="3374136"/>
            <a:ext cx="4453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查看个人历史记录与人工复核结论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822960" y="4983480"/>
            <a:ext cx="10469880" cy="1005840"/>
          </a:xfrm>
          <a:prstGeom prst="roundRect">
            <a:avLst>
              <a:gd name="adj" fmla="val 727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" y="5093208"/>
            <a:ext cx="10177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系统非功能需求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05840" y="5303520"/>
            <a:ext cx="2416302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33856" y="5449824"/>
            <a:ext cx="256032" cy="25603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33856" y="549554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63040" y="5422392"/>
            <a:ext cx="184937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支持长视频异步评测，避免阻塞交互流程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22142" y="569671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8446" y="5303520"/>
            <a:ext cx="2416302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96462" y="5449824"/>
            <a:ext cx="256032" cy="256032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96462" y="549554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025646" y="5422392"/>
            <a:ext cx="184937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结果需要可留痕、可追溯、可复核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984748" y="569671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31052" y="5303520"/>
            <a:ext cx="2416302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59068" y="5449824"/>
            <a:ext cx="256032" cy="256032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59068" y="549554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588252" y="5422392"/>
            <a:ext cx="184937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前后端分离，便于后续拓展和维护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547354" y="569671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93658" y="5303520"/>
            <a:ext cx="2416302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821674" y="5449824"/>
            <a:ext cx="256032" cy="256032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21674" y="549554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150858" y="5422392"/>
            <a:ext cx="184937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支持结构化输出，便于统计分析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9975" y="164592"/>
            <a:ext cx="1783080" cy="1783080"/>
          </a:xfrm>
          <a:prstGeom prst="ellipse">
            <a:avLst/>
          </a:prstGeom>
          <a:solidFill>
            <a:srgbClr val="D8E8FF">
              <a:alpha val="85000"/>
            </a:srgbClr>
          </a:solidFill>
          <a:ln w="12700">
            <a:solidFill>
              <a:srgbClr val="D8E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303520"/>
            <a:ext cx="1143000" cy="1143000"/>
          </a:xfrm>
          <a:prstGeom prst="ellipse">
            <a:avLst/>
          </a:prstGeom>
          <a:solidFill>
            <a:srgbClr val="E8F0FF">
              <a:alpha val="90000"/>
            </a:srgbClr>
          </a:solidFill>
          <a:ln w="12700">
            <a:solidFill>
              <a:srgbClr val="E8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总体技术路线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采用“前端交互 + 后端服务 + 视频处理 + 多模态评测 + 数据留痕”的组合方案。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1600200"/>
            <a:ext cx="1995221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" y="1746504"/>
            <a:ext cx="256032" cy="25603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79222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80160" y="1719072"/>
            <a:ext cx="142829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/ Element Plus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构建管理端与用户端交互界面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18181" y="199339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4485" y="1600200"/>
            <a:ext cx="1995221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92501" y="1746504"/>
            <a:ext cx="256032" cy="256032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2501" y="179222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1685" y="1719072"/>
            <a:ext cx="142829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/ MySQL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 API、鉴权与业务数据存储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59706" y="199339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06010" y="1600200"/>
            <a:ext cx="1995221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34026" y="1746504"/>
            <a:ext cx="256032" cy="256032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4026" y="179222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63210" y="1719072"/>
            <a:ext cx="142829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OpenCV / FFmpeg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完成视频读写、抽帧与格式处理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01230" y="199339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47534" y="1600200"/>
            <a:ext cx="1995221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75550" y="1746504"/>
            <a:ext cx="256032" cy="256032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75550" y="179222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04734" y="1719072"/>
            <a:ext cx="142829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多模态大模型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执行时序分析、分步判断与全局校验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242755" y="199339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89059" y="1600200"/>
            <a:ext cx="1995221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17075" y="1746504"/>
            <a:ext cx="256032" cy="256032"/>
          </a:xfrm>
          <a:prstGeom prst="ellipse">
            <a:avLst/>
          </a:prstGeom>
          <a:solidFill>
            <a:srgbClr val="113A8F"/>
          </a:solidFill>
          <a:ln w="12700">
            <a:solidFill>
              <a:srgbClr val="113A8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17075" y="179222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846259" y="1719072"/>
            <a:ext cx="142829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历史记录与统计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沉淀评测结果并支撑复核分析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2960" y="2971800"/>
            <a:ext cx="10469880" cy="2194560"/>
          </a:xfrm>
          <a:prstGeom prst="roundRect">
            <a:avLst>
              <a:gd name="adj" fmla="val 333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9264" y="3081528"/>
            <a:ext cx="10177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关键设计思路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51560" y="345643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16152" y="3383280"/>
            <a:ext cx="9848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不要求用户逐步上传视频，而是采用完整执行视频一次性上传，降低使用门槛。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051560" y="389534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16152" y="3822192"/>
            <a:ext cx="9848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管理员上传整段示范视频后，由系统自动为各步骤生成参考信息，减少人工维护成本。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051560" y="433425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16152" y="4261104"/>
            <a:ext cx="9848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评测链路采用多阶段设计：先做时序定位，再做分步判断，最后进行全局顺序校验。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1051560" y="4773168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16152" y="4700016"/>
            <a:ext cx="9848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在模型输出基础上叠加规则后处理，兼顾模型灵活性与流程约束的确定性。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9975" y="164592"/>
            <a:ext cx="1783080" cy="1783080"/>
          </a:xfrm>
          <a:prstGeom prst="ellipse">
            <a:avLst/>
          </a:prstGeom>
          <a:solidFill>
            <a:srgbClr val="D8E8FF">
              <a:alpha val="85000"/>
            </a:srgbClr>
          </a:solidFill>
          <a:ln w="12700">
            <a:solidFill>
              <a:srgbClr val="D8E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303520"/>
            <a:ext cx="1143000" cy="1143000"/>
          </a:xfrm>
          <a:prstGeom prst="ellipse">
            <a:avLst/>
          </a:prstGeom>
          <a:solidFill>
            <a:srgbClr val="E8F0FF">
              <a:alpha val="90000"/>
            </a:srgbClr>
          </a:solidFill>
          <a:ln w="12700">
            <a:solidFill>
              <a:srgbClr val="E8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系统总体架构设计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系统采用前后端分离结构，异步 Worker 负责耗时评测任务。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2286000" cy="987552"/>
          </a:xfrm>
          <a:prstGeom prst="roundRect">
            <a:avLst>
              <a:gd name="adj" fmla="val 7407"/>
            </a:avLst>
          </a:prstGeom>
          <a:solidFill>
            <a:srgbClr val="EFF5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152704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前端展示层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80136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+ Vue Router + Element Plus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管理员端 / 用户端 / 结果展示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75888" y="1417320"/>
            <a:ext cx="2514600" cy="987552"/>
          </a:xfrm>
          <a:prstGeom prst="roundRect">
            <a:avLst>
              <a:gd name="adj" fmla="val 7407"/>
            </a:avLst>
          </a:prstGeom>
          <a:solidFill>
            <a:srgbClr val="F4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22192" y="152704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后端接口层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58768" y="180136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+ Pydantic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鉴权、SOP 管理、历史查询、任务接口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1417320"/>
            <a:ext cx="2514600" cy="987552"/>
          </a:xfrm>
          <a:prstGeom prst="roundRect">
            <a:avLst>
              <a:gd name="adj" fmla="val 7407"/>
            </a:avLst>
          </a:prstGeom>
          <a:solidFill>
            <a:srgbClr val="F5FFF8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67144" y="152704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任务处理层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03720" y="180136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 Worker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异步轮询、日志记录、评测状态更新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765792" y="1417320"/>
            <a:ext cx="1554480" cy="987552"/>
          </a:xfrm>
          <a:prstGeom prst="roundRect">
            <a:avLst>
              <a:gd name="adj" fmla="val 7407"/>
            </a:avLst>
          </a:prstGeom>
          <a:solidFill>
            <a:srgbClr val="FFF8EE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12096" y="152704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模型服务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948672" y="18013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多模态大模型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54680" y="1901952"/>
            <a:ext cx="502920" cy="0"/>
          </a:xfrm>
          <a:prstGeom prst="line">
            <a:avLst/>
          </a:prstGeom>
          <a:noFill/>
          <a:ln w="20320">
            <a:solidFill>
              <a:srgbClr val="2F6B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9632" y="1901952"/>
            <a:ext cx="502920" cy="0"/>
          </a:xfrm>
          <a:prstGeom prst="line">
            <a:avLst/>
          </a:prstGeom>
          <a:noFill/>
          <a:ln w="20320">
            <a:solidFill>
              <a:srgbClr val="2F6B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44584" y="1901952"/>
            <a:ext cx="502920" cy="0"/>
          </a:xfrm>
          <a:prstGeom prst="line">
            <a:avLst/>
          </a:prstGeom>
          <a:noFill/>
          <a:ln w="20320">
            <a:solidFill>
              <a:srgbClr val="2F6B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" y="2880360"/>
            <a:ext cx="4297680" cy="1965960"/>
          </a:xfrm>
          <a:prstGeom prst="roundRect">
            <a:avLst>
              <a:gd name="adj" fmla="val 3721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9304" y="2990088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数据与文件层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353312" y="3392424"/>
            <a:ext cx="91440" cy="91440"/>
          </a:xfrm>
          <a:prstGeom prst="ellipse">
            <a:avLst/>
          </a:prstGeom>
          <a:solidFill>
            <a:srgbClr val="113A8F"/>
          </a:solidFill>
          <a:ln w="12700">
            <a:solidFill>
              <a:srgbClr val="113A8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17904" y="331927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MySQL：用户、SOP、任务、历史、统计数据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1353312" y="3849624"/>
            <a:ext cx="91440" cy="91440"/>
          </a:xfrm>
          <a:prstGeom prst="ellipse">
            <a:avLst/>
          </a:prstGeom>
          <a:solidFill>
            <a:srgbClr val="113A8F"/>
          </a:solidFill>
          <a:ln w="12700">
            <a:solidFill>
              <a:srgbClr val="113A8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17904" y="377647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媒体文件：示范视频、执行视频、关键帧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1353312" y="4306824"/>
            <a:ext cx="91440" cy="91440"/>
          </a:xfrm>
          <a:prstGeom prst="ellipse">
            <a:avLst/>
          </a:prstGeom>
          <a:solidFill>
            <a:srgbClr val="113A8F"/>
          </a:solidFill>
          <a:ln w="12700">
            <a:solidFill>
              <a:srgbClr val="113A8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17904" y="423367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结构化结果：步骤得分、问题类型、证据文本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5715000" y="2880360"/>
            <a:ext cx="4983480" cy="1965960"/>
          </a:xfrm>
          <a:prstGeom prst="roundRect">
            <a:avLst>
              <a:gd name="adj" fmla="val 3721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61304" y="299008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能力支撑层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25312" y="3392424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9904" y="3319272"/>
            <a:ext cx="4315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OpenCV / FFmpeg：视频读写、抽帧、格式标准化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5925312" y="3849624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9904" y="3776472"/>
            <a:ext cx="4315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httpx：调用多模态模型接口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5925312" y="4306824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9904" y="4233672"/>
            <a:ext cx="4315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规则评分模块：步骤权重、条件步骤、前置依赖、问题扣分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9975" y="164592"/>
            <a:ext cx="1783080" cy="1783080"/>
          </a:xfrm>
          <a:prstGeom prst="ellipse">
            <a:avLst/>
          </a:prstGeom>
          <a:solidFill>
            <a:srgbClr val="D8E8FF">
              <a:alpha val="85000"/>
            </a:srgbClr>
          </a:solidFill>
          <a:ln w="12700">
            <a:solidFill>
              <a:srgbClr val="D8E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303520"/>
            <a:ext cx="1143000" cy="1143000"/>
          </a:xfrm>
          <a:prstGeom prst="ellipse">
            <a:avLst/>
          </a:prstGeom>
          <a:solidFill>
            <a:srgbClr val="E8F0FF">
              <a:alpha val="90000"/>
            </a:srgbClr>
          </a:solidFill>
          <a:ln w="12700">
            <a:solidFill>
              <a:srgbClr val="E8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关键业务流程设计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围绕管理员建模、用户执行与系统评测形成闭环流程。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137160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48132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管理员侧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24128" y="1828800"/>
            <a:ext cx="2103120" cy="729234"/>
          </a:xfrm>
          <a:prstGeom prst="roundRect">
            <a:avLst>
              <a:gd name="adj" fmla="val 10031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56" y="1929384"/>
            <a:ext cx="219456" cy="219456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33856" y="1975104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435608" y="1901952"/>
            <a:ext cx="157276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5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 SOP</a:t>
            </a:r>
            <a:endParaRPr lang="en-US" sz="955" dirty="0"/>
          </a:p>
        </p:txBody>
      </p:sp>
      <p:sp>
        <p:nvSpPr>
          <p:cNvPr id="14" name="Shape 12"/>
          <p:cNvSpPr/>
          <p:nvPr/>
        </p:nvSpPr>
        <p:spPr>
          <a:xfrm>
            <a:off x="1024128" y="2667762"/>
            <a:ext cx="2103120" cy="729234"/>
          </a:xfrm>
          <a:prstGeom prst="roundRect">
            <a:avLst>
              <a:gd name="adj" fmla="val 10031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3856" y="2768346"/>
            <a:ext cx="219456" cy="219456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814066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435608" y="2740914"/>
            <a:ext cx="157276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5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配置步骤信息</a:t>
            </a:r>
            <a:endParaRPr lang="en-US" sz="955" dirty="0"/>
          </a:p>
        </p:txBody>
      </p:sp>
      <p:sp>
        <p:nvSpPr>
          <p:cNvPr id="18" name="Shape 16"/>
          <p:cNvSpPr/>
          <p:nvPr/>
        </p:nvSpPr>
        <p:spPr>
          <a:xfrm>
            <a:off x="1024128" y="3506724"/>
            <a:ext cx="2103120" cy="729234"/>
          </a:xfrm>
          <a:prstGeom prst="roundRect">
            <a:avLst>
              <a:gd name="adj" fmla="val 10031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3856" y="3607308"/>
            <a:ext cx="219456" cy="219456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3856" y="365302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435608" y="3579876"/>
            <a:ext cx="157276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5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上传示范视频</a:t>
            </a:r>
            <a:endParaRPr lang="en-US" sz="955" dirty="0"/>
          </a:p>
        </p:txBody>
      </p:sp>
      <p:sp>
        <p:nvSpPr>
          <p:cNvPr id="22" name="Shape 20"/>
          <p:cNvSpPr/>
          <p:nvPr/>
        </p:nvSpPr>
        <p:spPr>
          <a:xfrm>
            <a:off x="1024128" y="4345686"/>
            <a:ext cx="2103120" cy="729234"/>
          </a:xfrm>
          <a:prstGeom prst="roundRect">
            <a:avLst>
              <a:gd name="adj" fmla="val 10031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33856" y="4446270"/>
            <a:ext cx="219456" cy="219456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33856" y="4491990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35608" y="4418838"/>
            <a:ext cx="157276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5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生成参考信息</a:t>
            </a:r>
            <a:endParaRPr lang="en-US" sz="955" dirty="0"/>
          </a:p>
        </p:txBody>
      </p:sp>
      <p:sp>
        <p:nvSpPr>
          <p:cNvPr id="26" name="Shape 24"/>
          <p:cNvSpPr/>
          <p:nvPr/>
        </p:nvSpPr>
        <p:spPr>
          <a:xfrm>
            <a:off x="3611880" y="1371600"/>
            <a:ext cx="3749040" cy="4114800"/>
          </a:xfrm>
          <a:prstGeom prst="roundRect">
            <a:avLst>
              <a:gd name="adj" fmla="val 1951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58184" y="148132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系统处理侧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22192" y="1828800"/>
            <a:ext cx="3328416" cy="460248"/>
          </a:xfrm>
          <a:prstGeom prst="roundRect">
            <a:avLst>
              <a:gd name="adj" fmla="val 15894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31920" y="1929384"/>
            <a:ext cx="219456" cy="219456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1975104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233672" y="1901952"/>
            <a:ext cx="2798064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5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创建评测任务</a:t>
            </a:r>
            <a:endParaRPr lang="en-US" sz="955" dirty="0"/>
          </a:p>
        </p:txBody>
      </p:sp>
      <p:sp>
        <p:nvSpPr>
          <p:cNvPr id="32" name="Shape 30"/>
          <p:cNvSpPr/>
          <p:nvPr/>
        </p:nvSpPr>
        <p:spPr>
          <a:xfrm>
            <a:off x="3822192" y="2398776"/>
            <a:ext cx="3328416" cy="460248"/>
          </a:xfrm>
          <a:prstGeom prst="roundRect">
            <a:avLst>
              <a:gd name="adj" fmla="val 15894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31920" y="2499360"/>
            <a:ext cx="219456" cy="219456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0" y="2545080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233672" y="2471928"/>
            <a:ext cx="2798064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5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时序分割</a:t>
            </a:r>
            <a:endParaRPr lang="en-US" sz="955" dirty="0"/>
          </a:p>
        </p:txBody>
      </p:sp>
      <p:sp>
        <p:nvSpPr>
          <p:cNvPr id="36" name="Shape 34"/>
          <p:cNvSpPr/>
          <p:nvPr/>
        </p:nvSpPr>
        <p:spPr>
          <a:xfrm>
            <a:off x="3822192" y="2968752"/>
            <a:ext cx="3328416" cy="460248"/>
          </a:xfrm>
          <a:prstGeom prst="roundRect">
            <a:avLst>
              <a:gd name="adj" fmla="val 15894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31920" y="3069336"/>
            <a:ext cx="219456" cy="219456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0" y="3115056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233672" y="3041904"/>
            <a:ext cx="2798064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5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分步评测</a:t>
            </a:r>
            <a:endParaRPr lang="en-US" sz="955" dirty="0"/>
          </a:p>
        </p:txBody>
      </p:sp>
      <p:sp>
        <p:nvSpPr>
          <p:cNvPr id="40" name="Shape 38"/>
          <p:cNvSpPr/>
          <p:nvPr/>
        </p:nvSpPr>
        <p:spPr>
          <a:xfrm>
            <a:off x="3822192" y="3538728"/>
            <a:ext cx="3328416" cy="460248"/>
          </a:xfrm>
          <a:prstGeom prst="roundRect">
            <a:avLst>
              <a:gd name="adj" fmla="val 15894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931920" y="3639312"/>
            <a:ext cx="219456" cy="219456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31920" y="3685032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233672" y="3611880"/>
            <a:ext cx="2798064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5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全局校验</a:t>
            </a:r>
            <a:endParaRPr lang="en-US" sz="955" dirty="0"/>
          </a:p>
        </p:txBody>
      </p:sp>
      <p:sp>
        <p:nvSpPr>
          <p:cNvPr id="44" name="Shape 42"/>
          <p:cNvSpPr/>
          <p:nvPr/>
        </p:nvSpPr>
        <p:spPr>
          <a:xfrm>
            <a:off x="3822192" y="4108704"/>
            <a:ext cx="3328416" cy="460248"/>
          </a:xfrm>
          <a:prstGeom prst="roundRect">
            <a:avLst>
              <a:gd name="adj" fmla="val 15894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931920" y="4209288"/>
            <a:ext cx="219456" cy="219456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0" y="425500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233672" y="4181856"/>
            <a:ext cx="2798064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5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规则后处理</a:t>
            </a:r>
            <a:endParaRPr lang="en-US" sz="955" dirty="0"/>
          </a:p>
        </p:txBody>
      </p:sp>
      <p:sp>
        <p:nvSpPr>
          <p:cNvPr id="48" name="Shape 46"/>
          <p:cNvSpPr/>
          <p:nvPr/>
        </p:nvSpPr>
        <p:spPr>
          <a:xfrm>
            <a:off x="3822192" y="4678680"/>
            <a:ext cx="3328416" cy="460248"/>
          </a:xfrm>
          <a:prstGeom prst="roundRect">
            <a:avLst>
              <a:gd name="adj" fmla="val 15894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931920" y="4779264"/>
            <a:ext cx="219456" cy="219456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31920" y="4824984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233672" y="4751832"/>
            <a:ext cx="2798064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5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保存结果</a:t>
            </a:r>
            <a:endParaRPr lang="en-US" sz="955" dirty="0"/>
          </a:p>
        </p:txBody>
      </p:sp>
      <p:sp>
        <p:nvSpPr>
          <p:cNvPr id="52" name="Shape 50"/>
          <p:cNvSpPr/>
          <p:nvPr/>
        </p:nvSpPr>
        <p:spPr>
          <a:xfrm>
            <a:off x="7635240" y="137160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81544" y="1481328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用户侧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845552" y="1828800"/>
            <a:ext cx="3236976" cy="566928"/>
          </a:xfrm>
          <a:prstGeom prst="roundRect">
            <a:avLst>
              <a:gd name="adj" fmla="val 1290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955280" y="1929384"/>
            <a:ext cx="219456" cy="219456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55280" y="1975104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257032" y="1901952"/>
            <a:ext cx="2706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5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 SOP</a:t>
            </a:r>
            <a:endParaRPr lang="en-US" sz="955" dirty="0"/>
          </a:p>
        </p:txBody>
      </p:sp>
      <p:sp>
        <p:nvSpPr>
          <p:cNvPr id="58" name="Shape 56"/>
          <p:cNvSpPr/>
          <p:nvPr/>
        </p:nvSpPr>
        <p:spPr>
          <a:xfrm>
            <a:off x="7845552" y="2505456"/>
            <a:ext cx="3236976" cy="566928"/>
          </a:xfrm>
          <a:prstGeom prst="roundRect">
            <a:avLst>
              <a:gd name="adj" fmla="val 12903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955280" y="2606040"/>
            <a:ext cx="219456" cy="219456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55280" y="2651760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257032" y="2578608"/>
            <a:ext cx="2706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5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上传执行视频</a:t>
            </a:r>
            <a:endParaRPr lang="en-US" sz="955" dirty="0"/>
          </a:p>
        </p:txBody>
      </p:sp>
      <p:sp>
        <p:nvSpPr>
          <p:cNvPr id="62" name="Shape 60"/>
          <p:cNvSpPr/>
          <p:nvPr/>
        </p:nvSpPr>
        <p:spPr>
          <a:xfrm>
            <a:off x="7845552" y="3182112"/>
            <a:ext cx="3236976" cy="566928"/>
          </a:xfrm>
          <a:prstGeom prst="roundRect">
            <a:avLst>
              <a:gd name="adj" fmla="val 1290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55280" y="3282696"/>
            <a:ext cx="219456" cy="219456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955280" y="3328416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8257032" y="3255264"/>
            <a:ext cx="2706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5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轮询任务进度</a:t>
            </a:r>
            <a:endParaRPr lang="en-US" sz="955" dirty="0"/>
          </a:p>
        </p:txBody>
      </p:sp>
      <p:sp>
        <p:nvSpPr>
          <p:cNvPr id="66" name="Shape 64"/>
          <p:cNvSpPr/>
          <p:nvPr/>
        </p:nvSpPr>
        <p:spPr>
          <a:xfrm>
            <a:off x="7845552" y="3858768"/>
            <a:ext cx="3236976" cy="566928"/>
          </a:xfrm>
          <a:prstGeom prst="roundRect">
            <a:avLst>
              <a:gd name="adj" fmla="val 12903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55280" y="3959352"/>
            <a:ext cx="219456" cy="219456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55280" y="4005072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8257032" y="3931920"/>
            <a:ext cx="2706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5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查看评测结果</a:t>
            </a:r>
            <a:endParaRPr lang="en-US" sz="955" dirty="0"/>
          </a:p>
        </p:txBody>
      </p:sp>
      <p:sp>
        <p:nvSpPr>
          <p:cNvPr id="70" name="Shape 68"/>
          <p:cNvSpPr/>
          <p:nvPr/>
        </p:nvSpPr>
        <p:spPr>
          <a:xfrm>
            <a:off x="7845552" y="4535424"/>
            <a:ext cx="3236976" cy="566928"/>
          </a:xfrm>
          <a:prstGeom prst="roundRect">
            <a:avLst>
              <a:gd name="adj" fmla="val 1290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955280" y="4636008"/>
            <a:ext cx="219456" cy="219456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955280" y="468172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8257032" y="4608576"/>
            <a:ext cx="2706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5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查看历史与复核</a:t>
            </a:r>
            <a:endParaRPr lang="en-US" sz="955" dirty="0"/>
          </a:p>
        </p:txBody>
      </p:sp>
      <p:sp>
        <p:nvSpPr>
          <p:cNvPr id="74" name="Shape 72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9975" y="164592"/>
            <a:ext cx="1783080" cy="1783080"/>
          </a:xfrm>
          <a:prstGeom prst="ellipse">
            <a:avLst/>
          </a:prstGeom>
          <a:solidFill>
            <a:srgbClr val="D8E8FF">
              <a:alpha val="85000"/>
            </a:srgbClr>
          </a:solidFill>
          <a:ln w="12700">
            <a:solidFill>
              <a:srgbClr val="D8E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303520"/>
            <a:ext cx="1143000" cy="1143000"/>
          </a:xfrm>
          <a:prstGeom prst="ellipse">
            <a:avLst/>
          </a:prstGeom>
          <a:solidFill>
            <a:srgbClr val="E8F0FF">
              <a:alpha val="90000"/>
            </a:srgbClr>
          </a:solidFill>
          <a:ln w="12700">
            <a:solidFill>
              <a:srgbClr val="E8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项目进度总览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当前已完成系统主体功能实现，整体进度可表述为约 75%。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1353312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353312"/>
            <a:ext cx="73152" cy="9601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49047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33272" y="1920240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整体完成度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99232" y="1353312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99232" y="1353312"/>
            <a:ext cx="73152" cy="960120"/>
          </a:xfrm>
          <a:prstGeom prst="rect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63824" y="149047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主体已打通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163824" y="1920240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当前阶段状态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21808" y="1353312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21808" y="1353312"/>
            <a:ext cx="73152" cy="960120"/>
          </a:xfrm>
          <a:prstGeom prst="rect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149047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多阶段评测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0" y="1920240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核心链路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61504" y="1353312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61504" y="1353312"/>
            <a:ext cx="73152" cy="960120"/>
          </a:xfrm>
          <a:prstGeom prst="rect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6096" y="149047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优化与完善阶段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626096" y="1920240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后续工作重心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8680" y="2697480"/>
            <a:ext cx="10241280" cy="2788920"/>
          </a:xfrm>
          <a:prstGeom prst="roundRect">
            <a:avLst>
              <a:gd name="adj" fmla="val 262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4984" y="2807208"/>
            <a:ext cx="994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分模块进度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31546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需求分析与总体方案设计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88920" y="3172968"/>
            <a:ext cx="3840480" cy="146304"/>
          </a:xfrm>
          <a:prstGeom prst="roundRect">
            <a:avLst>
              <a:gd name="adj" fmla="val 31250"/>
            </a:avLst>
          </a:prstGeom>
          <a:solidFill>
            <a:srgbClr val="E8EDF7"/>
          </a:solidFill>
          <a:ln w="12700">
            <a:solidFill>
              <a:srgbClr val="D6E0F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88920" y="3172968"/>
            <a:ext cx="3840480" cy="146304"/>
          </a:xfrm>
          <a:prstGeom prst="roundRect">
            <a:avLst>
              <a:gd name="adj" fmla="val 31250"/>
            </a:avLst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31455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AA8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635240" y="31363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841248" y="354787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前后端基础框架搭建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88920" y="3566160"/>
            <a:ext cx="3840480" cy="146304"/>
          </a:xfrm>
          <a:prstGeom prst="roundRect">
            <a:avLst>
              <a:gd name="adj" fmla="val 31250"/>
            </a:avLst>
          </a:prstGeom>
          <a:solidFill>
            <a:srgbClr val="E8EDF7"/>
          </a:solidFill>
          <a:ln w="12700">
            <a:solidFill>
              <a:srgbClr val="D6E0F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88920" y="3566160"/>
            <a:ext cx="3840480" cy="146304"/>
          </a:xfrm>
          <a:prstGeom prst="roundRect">
            <a:avLst>
              <a:gd name="adj" fmla="val 31250"/>
            </a:avLst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35387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AA8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635240" y="35295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841248" y="394106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登录权限与角色管理模块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88920" y="3959352"/>
            <a:ext cx="3840480" cy="146304"/>
          </a:xfrm>
          <a:prstGeom prst="roundRect">
            <a:avLst>
              <a:gd name="adj" fmla="val 31250"/>
            </a:avLst>
          </a:prstGeom>
          <a:solidFill>
            <a:srgbClr val="E8EDF7"/>
          </a:solidFill>
          <a:ln w="12700">
            <a:solidFill>
              <a:srgbClr val="D6E0F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88920" y="3959352"/>
            <a:ext cx="3840480" cy="146304"/>
          </a:xfrm>
          <a:prstGeom prst="roundRect">
            <a:avLst>
              <a:gd name="adj" fmla="val 31250"/>
            </a:avLst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39319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AA8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635240" y="39227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960" dirty="0"/>
          </a:p>
        </p:txBody>
      </p:sp>
      <p:sp>
        <p:nvSpPr>
          <p:cNvPr id="41" name="Text 39"/>
          <p:cNvSpPr/>
          <p:nvPr/>
        </p:nvSpPr>
        <p:spPr>
          <a:xfrm>
            <a:off x="841248" y="433425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管理与数据库设计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88920" y="4352544"/>
            <a:ext cx="3840480" cy="146304"/>
          </a:xfrm>
          <a:prstGeom prst="roundRect">
            <a:avLst>
              <a:gd name="adj" fmla="val 31250"/>
            </a:avLst>
          </a:prstGeom>
          <a:solidFill>
            <a:srgbClr val="E8EDF7"/>
          </a:solidFill>
          <a:ln w="12700">
            <a:solidFill>
              <a:srgbClr val="D6E0F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88920" y="4352544"/>
            <a:ext cx="3456432" cy="146304"/>
          </a:xfrm>
          <a:prstGeom prst="roundRect">
            <a:avLst>
              <a:gd name="adj" fmla="val 31250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0" y="43251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635240" y="43159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基本完成</a:t>
            </a:r>
            <a:endParaRPr lang="en-US" sz="960" dirty="0"/>
          </a:p>
        </p:txBody>
      </p:sp>
      <p:sp>
        <p:nvSpPr>
          <p:cNvPr id="46" name="Text 44"/>
          <p:cNvSpPr/>
          <p:nvPr/>
        </p:nvSpPr>
        <p:spPr>
          <a:xfrm>
            <a:off x="841248" y="472744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示范视频预处理与参考信息生成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88920" y="4745736"/>
            <a:ext cx="3840480" cy="146304"/>
          </a:xfrm>
          <a:prstGeom prst="roundRect">
            <a:avLst>
              <a:gd name="adj" fmla="val 31250"/>
            </a:avLst>
          </a:prstGeom>
          <a:solidFill>
            <a:srgbClr val="E8EDF7"/>
          </a:solidFill>
          <a:ln w="12700">
            <a:solidFill>
              <a:srgbClr val="D6E0F3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88920" y="4745736"/>
            <a:ext cx="3264408" cy="146304"/>
          </a:xfrm>
          <a:prstGeom prst="roundRect">
            <a:avLst>
              <a:gd name="adj" fmla="val 31250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66560" y="47183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635240" y="47091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基本完成</a:t>
            </a:r>
            <a:endParaRPr lang="en-US" sz="960" dirty="0"/>
          </a:p>
        </p:txBody>
      </p:sp>
      <p:sp>
        <p:nvSpPr>
          <p:cNvPr id="51" name="Text 49"/>
          <p:cNvSpPr/>
          <p:nvPr/>
        </p:nvSpPr>
        <p:spPr>
          <a:xfrm>
            <a:off x="841248" y="51206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多阶段 AI 视频评测流程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88920" y="5138928"/>
            <a:ext cx="3840480" cy="146304"/>
          </a:xfrm>
          <a:prstGeom prst="roundRect">
            <a:avLst>
              <a:gd name="adj" fmla="val 31250"/>
            </a:avLst>
          </a:prstGeom>
          <a:solidFill>
            <a:srgbClr val="E8EDF7"/>
          </a:solidFill>
          <a:ln w="12700">
            <a:solidFill>
              <a:srgbClr val="D6E0F3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88920" y="5138928"/>
            <a:ext cx="3264408" cy="146304"/>
          </a:xfrm>
          <a:prstGeom prst="roundRect">
            <a:avLst>
              <a:gd name="adj" fmla="val 31250"/>
            </a:avLst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66560" y="51114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3A0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635240" y="51023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基本完成</a:t>
            </a:r>
            <a:endParaRPr lang="en-US" sz="960" dirty="0"/>
          </a:p>
        </p:txBody>
      </p:sp>
      <p:sp>
        <p:nvSpPr>
          <p:cNvPr id="56" name="Text 54"/>
          <p:cNvSpPr/>
          <p:nvPr/>
        </p:nvSpPr>
        <p:spPr>
          <a:xfrm>
            <a:off x="841248" y="551383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历史记录、统计与人工复核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788920" y="5532120"/>
            <a:ext cx="3840480" cy="146304"/>
          </a:xfrm>
          <a:prstGeom prst="roundRect">
            <a:avLst>
              <a:gd name="adj" fmla="val 31250"/>
            </a:avLst>
          </a:prstGeom>
          <a:solidFill>
            <a:srgbClr val="E8EDF7"/>
          </a:solidFill>
          <a:ln w="12700">
            <a:solidFill>
              <a:srgbClr val="D6E0F3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88920" y="5532120"/>
            <a:ext cx="3456432" cy="146304"/>
          </a:xfrm>
          <a:prstGeom prst="roundRect">
            <a:avLst>
              <a:gd name="adj" fmla="val 31250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66560" y="55046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635240" y="54955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基本完成</a:t>
            </a:r>
            <a:endParaRPr lang="en-US" sz="960" dirty="0"/>
          </a:p>
        </p:txBody>
      </p:sp>
      <p:sp>
        <p:nvSpPr>
          <p:cNvPr id="61" name="Shape 59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9975" y="164592"/>
            <a:ext cx="1783080" cy="1783080"/>
          </a:xfrm>
          <a:prstGeom prst="ellipse">
            <a:avLst/>
          </a:prstGeom>
          <a:solidFill>
            <a:srgbClr val="D8E8FF">
              <a:alpha val="85000"/>
            </a:srgbClr>
          </a:solidFill>
          <a:ln w="12700">
            <a:solidFill>
              <a:srgbClr val="D8E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303520"/>
            <a:ext cx="1143000" cy="1143000"/>
          </a:xfrm>
          <a:prstGeom prst="ellipse">
            <a:avLst/>
          </a:prstGeom>
          <a:solidFill>
            <a:srgbClr val="E8F0FF">
              <a:alpha val="90000"/>
            </a:srgbClr>
          </a:solidFill>
          <a:ln w="12700">
            <a:solidFill>
              <a:srgbClr val="E8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核心功能实现（一）用户与权限管理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实现系统基础访问控制，为后续业务功能提供角色隔离。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1389888"/>
            <a:ext cx="4754880" cy="3931920"/>
          </a:xfrm>
          <a:prstGeom prst="roundRect">
            <a:avLst>
              <a:gd name="adj" fmla="val 1860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1499616"/>
            <a:ext cx="446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已实现内容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78992" y="192024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1847088"/>
            <a:ext cx="4133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登录、注册、退出以及当前用户信息查询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1078992" y="245059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2377440"/>
            <a:ext cx="4133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管理员与普通用户角色区分，不同角色进入不同工作台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1078992" y="298094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2907792"/>
            <a:ext cx="4133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支持用户启用 / 禁用，限制异常账户继续使用系统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1078992" y="351129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3438144"/>
            <a:ext cx="4133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Token 和会话信息进行访问控制与状态同步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5897880" y="1389888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44184" y="1499616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实现效果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08192" y="1993392"/>
            <a:ext cx="1088136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2139696"/>
            <a:ext cx="256032" cy="256032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2185416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65392" y="2112264"/>
            <a:ext cx="521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未登录状态访问系统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96328" y="2386584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42632" y="1993392"/>
            <a:ext cx="1088136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70648" y="2139696"/>
            <a:ext cx="256032" cy="256032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70648" y="2185416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99832" y="2112264"/>
            <a:ext cx="521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输入账号密码完成认证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430768" y="2386584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77072" y="1993392"/>
            <a:ext cx="1088136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05088" y="2139696"/>
            <a:ext cx="256032" cy="256032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05088" y="2185416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034272" y="2112264"/>
            <a:ext cx="521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根据角色自动跳转到管理员端或用户端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665208" y="2386584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11512" y="1993392"/>
            <a:ext cx="1088136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39528" y="2139696"/>
            <a:ext cx="256032" cy="256032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39528" y="2185416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268712" y="2112264"/>
            <a:ext cx="521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后续接口访问均带鉴权信息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9975" y="164592"/>
            <a:ext cx="1783080" cy="1783080"/>
          </a:xfrm>
          <a:prstGeom prst="ellipse">
            <a:avLst/>
          </a:prstGeom>
          <a:solidFill>
            <a:srgbClr val="D8E8FF">
              <a:alpha val="85000"/>
            </a:srgbClr>
          </a:solidFill>
          <a:ln w="12700">
            <a:solidFill>
              <a:srgbClr val="D8E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303520"/>
            <a:ext cx="1143000" cy="1143000"/>
          </a:xfrm>
          <a:prstGeom prst="ellipse">
            <a:avLst/>
          </a:prstGeom>
          <a:solidFill>
            <a:srgbClr val="E8F0FF">
              <a:alpha val="90000"/>
            </a:srgbClr>
          </a:solidFill>
          <a:ln w="12700">
            <a:solidFill>
              <a:srgbClr val="E8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核心功能实现（二）SOP 建模与管理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管理员端已能完成 SOP 从定义到发布的主要建模工作。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1371600"/>
            <a:ext cx="3840480" cy="4160520"/>
          </a:xfrm>
          <a:prstGeom prst="roundRect">
            <a:avLst>
              <a:gd name="adj" fmla="val 1905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1481328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建模要素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78992" y="190195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1828800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名称、场景、步骤数量等基础信息</a:t>
            </a:r>
            <a:endParaRPr lang="en-US" sz="1210" dirty="0"/>
          </a:p>
        </p:txBody>
      </p:sp>
      <p:sp>
        <p:nvSpPr>
          <p:cNvPr id="12" name="Shape 10"/>
          <p:cNvSpPr/>
          <p:nvPr/>
        </p:nvSpPr>
        <p:spPr>
          <a:xfrm>
            <a:off x="1078992" y="246888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2395728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步骤描述、步骤类型（必选 / 可选 / 条件）</a:t>
            </a:r>
            <a:endParaRPr lang="en-US" sz="1210" dirty="0"/>
          </a:p>
        </p:txBody>
      </p:sp>
      <p:sp>
        <p:nvSpPr>
          <p:cNvPr id="14" name="Shape 12"/>
          <p:cNvSpPr/>
          <p:nvPr/>
        </p:nvSpPr>
        <p:spPr>
          <a:xfrm>
            <a:off x="1078992" y="3035808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2962656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步骤权重、条件触发说明、前置依赖关系</a:t>
            </a:r>
            <a:endParaRPr lang="en-US" sz="1210" dirty="0"/>
          </a:p>
        </p:txBody>
      </p:sp>
      <p:sp>
        <p:nvSpPr>
          <p:cNvPr id="16" name="Shape 14"/>
          <p:cNvSpPr/>
          <p:nvPr/>
        </p:nvSpPr>
        <p:spPr>
          <a:xfrm>
            <a:off x="1078992" y="360273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3529584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自定义问题类型扣分参数配置</a:t>
            </a:r>
            <a:endParaRPr lang="en-US" sz="1210" dirty="0"/>
          </a:p>
        </p:txBody>
      </p:sp>
      <p:sp>
        <p:nvSpPr>
          <p:cNvPr id="18" name="Shape 16"/>
          <p:cNvSpPr/>
          <p:nvPr/>
        </p:nvSpPr>
        <p:spPr>
          <a:xfrm>
            <a:off x="4983480" y="1371600"/>
            <a:ext cx="6126480" cy="4160520"/>
          </a:xfrm>
          <a:prstGeom prst="roundRect">
            <a:avLst>
              <a:gd name="adj" fmla="val 1758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9784" y="1481328"/>
            <a:ext cx="5833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功能状态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30368" y="1691640"/>
            <a:ext cx="5596128" cy="420624"/>
          </a:xfrm>
          <a:prstGeom prst="roundRect">
            <a:avLst>
              <a:gd name="adj" fmla="val 17391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13248" y="180136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 SOP 列表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9674352" y="1755648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47504" y="1801368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30368" y="2295144"/>
            <a:ext cx="5596128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13248" y="24048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 SOP</a:t>
            </a:r>
            <a:endParaRPr lang="en-US" sz="1140" dirty="0"/>
          </a:p>
        </p:txBody>
      </p:sp>
      <p:sp>
        <p:nvSpPr>
          <p:cNvPr id="26" name="Shape 24"/>
          <p:cNvSpPr/>
          <p:nvPr/>
        </p:nvSpPr>
        <p:spPr>
          <a:xfrm>
            <a:off x="9674352" y="2359152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47504" y="2404872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230368" y="2898648"/>
            <a:ext cx="5596128" cy="420624"/>
          </a:xfrm>
          <a:prstGeom prst="roundRect">
            <a:avLst>
              <a:gd name="adj" fmla="val 17391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13248" y="300837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 SOP 及关联媒体</a:t>
            </a:r>
            <a:endParaRPr lang="en-US" sz="1140" dirty="0"/>
          </a:p>
        </p:txBody>
      </p:sp>
      <p:sp>
        <p:nvSpPr>
          <p:cNvPr id="30" name="Shape 28"/>
          <p:cNvSpPr/>
          <p:nvPr/>
        </p:nvSpPr>
        <p:spPr>
          <a:xfrm>
            <a:off x="9674352" y="2962656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47504" y="3008376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230368" y="3502152"/>
            <a:ext cx="5596128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13248" y="36118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步骤级示范视频替换</a:t>
            </a:r>
            <a:endParaRPr lang="en-US" sz="1140" dirty="0"/>
          </a:p>
        </p:txBody>
      </p:sp>
      <p:sp>
        <p:nvSpPr>
          <p:cNvPr id="34" name="Shape 32"/>
          <p:cNvSpPr/>
          <p:nvPr/>
        </p:nvSpPr>
        <p:spPr>
          <a:xfrm>
            <a:off x="9674352" y="3566160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47504" y="361188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230368" y="4105656"/>
            <a:ext cx="5596128" cy="420624"/>
          </a:xfrm>
          <a:prstGeom prst="roundRect">
            <a:avLst>
              <a:gd name="adj" fmla="val 17391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13248" y="421538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步骤参考信息手动修正</a:t>
            </a:r>
            <a:endParaRPr lang="en-US" sz="1140" dirty="0"/>
          </a:p>
        </p:txBody>
      </p:sp>
      <p:sp>
        <p:nvSpPr>
          <p:cNvPr id="38" name="Shape 36"/>
          <p:cNvSpPr/>
          <p:nvPr/>
        </p:nvSpPr>
        <p:spPr>
          <a:xfrm>
            <a:off x="9674352" y="4169664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47504" y="4215384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9975" y="164592"/>
            <a:ext cx="1783080" cy="1783080"/>
          </a:xfrm>
          <a:prstGeom prst="ellipse">
            <a:avLst/>
          </a:prstGeom>
          <a:solidFill>
            <a:srgbClr val="D8E8FF">
              <a:alpha val="85000"/>
            </a:srgbClr>
          </a:solidFill>
          <a:ln w="12700">
            <a:solidFill>
              <a:srgbClr val="D8E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303520"/>
            <a:ext cx="1143000" cy="1143000"/>
          </a:xfrm>
          <a:prstGeom prst="ellipse">
            <a:avLst/>
          </a:prstGeom>
          <a:solidFill>
            <a:srgbClr val="E8F0FF">
              <a:alpha val="90000"/>
            </a:srgbClr>
          </a:solidFill>
          <a:ln w="12700">
            <a:solidFill>
              <a:srgbClr val="E8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核心功能实现（三）示范视频预处理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管理员上传完整流程视频后，系统自动提取步骤级参考信息。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1353312"/>
            <a:ext cx="10241280" cy="91440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1463040"/>
            <a:ext cx="994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设计思路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67335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不要求管理员为每一个步骤单独上传短视频，而是上传一段完整流程示范视频；系统依据步骤描述与时序分析结果自动生成步骤级参考包。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868680" y="265176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696" y="2798064"/>
            <a:ext cx="256032" cy="25603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284378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25880" y="277063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读取整段示范视频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99893" y="304495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46197" y="265176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74213" y="2798064"/>
            <a:ext cx="256032" cy="256032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74213" y="284378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03397" y="277063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识别各步骤大致时间范围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77410" y="304495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3714" y="265176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51730" y="2798064"/>
            <a:ext cx="256032" cy="256032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51730" y="284378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0914" y="277063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抽取关键帧与分析帧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54926" y="304495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01230" y="265176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9246" y="2798064"/>
            <a:ext cx="256032" cy="256032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9246" y="284378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58430" y="277063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生成参考摘要、关键时刻和 ROI 提示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32443" y="304495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78747" y="265176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06763" y="2798064"/>
            <a:ext cx="256032" cy="256032"/>
          </a:xfrm>
          <a:prstGeom prst="ellipse">
            <a:avLst/>
          </a:prstGeom>
          <a:solidFill>
            <a:srgbClr val="113A8F"/>
          </a:solidFill>
          <a:ln w="12700">
            <a:solidFill>
              <a:srgbClr val="113A8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06763" y="284378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635947" y="277063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 SOP 步骤参考信息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68680" y="397764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4984" y="4087368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当前实现价值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78992" y="4416552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43584" y="434340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降低管理员维护成本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1078992" y="4709160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43584" y="4636008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为后续分步评测提供视觉参考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1078992" y="5001768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43584" y="4928616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支持手动覆盖和关键时刻修正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6126480" y="39776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72784" y="408736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当前局限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36792" y="4389120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01384" y="4315968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步骤边界不明显时，自动切分结果仍可能偏粗</a:t>
            </a:r>
            <a:endParaRPr lang="en-US" sz="1060" dirty="0"/>
          </a:p>
        </p:txBody>
      </p:sp>
      <p:sp>
        <p:nvSpPr>
          <p:cNvPr id="47" name="Shape 45"/>
          <p:cNvSpPr/>
          <p:nvPr/>
        </p:nvSpPr>
        <p:spPr>
          <a:xfrm>
            <a:off x="6336792" y="4681728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01384" y="4608576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复杂动作的 ROI 提取质量受示范视频质量影响较大</a:t>
            </a:r>
            <a:endParaRPr lang="en-US" sz="1060" dirty="0"/>
          </a:p>
        </p:txBody>
      </p:sp>
      <p:sp>
        <p:nvSpPr>
          <p:cNvPr id="49" name="Shape 47"/>
          <p:cNvSpPr/>
          <p:nvPr/>
        </p:nvSpPr>
        <p:spPr>
          <a:xfrm>
            <a:off x="6336792" y="4974336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01384" y="4901184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后续仍需增强自动切分与人工校正结合能力</a:t>
            </a:r>
            <a:endParaRPr lang="en-US" sz="1060" dirty="0"/>
          </a:p>
        </p:txBody>
      </p:sp>
      <p:sp>
        <p:nvSpPr>
          <p:cNvPr id="51" name="Shape 49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9975" y="164592"/>
            <a:ext cx="1783080" cy="1783080"/>
          </a:xfrm>
          <a:prstGeom prst="ellipse">
            <a:avLst/>
          </a:prstGeom>
          <a:solidFill>
            <a:srgbClr val="D8E8FF">
              <a:alpha val="85000"/>
            </a:srgbClr>
          </a:solidFill>
          <a:ln w="12700">
            <a:solidFill>
              <a:srgbClr val="D8E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303520"/>
            <a:ext cx="1143000" cy="1143000"/>
          </a:xfrm>
          <a:prstGeom prst="ellipse">
            <a:avLst/>
          </a:prstGeom>
          <a:solidFill>
            <a:srgbClr val="E8F0FF">
              <a:alpha val="90000"/>
            </a:srgbClr>
          </a:solidFill>
          <a:ln w="12700">
            <a:solidFill>
              <a:srgbClr val="E8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核心功能实现（四）多阶段 AI 视频评测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系统已形成面向执行视频的三阶段评测链路。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1600200"/>
            <a:ext cx="3316224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6696" y="1746504"/>
            <a:ext cx="256032" cy="25603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179222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25880" y="1719072"/>
            <a:ext cx="2749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阶段一：时序分割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定位各步骤在用户视频中的候选区间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84904" y="199339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1208" y="1600200"/>
            <a:ext cx="3316224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59224" y="1746504"/>
            <a:ext cx="256032" cy="256032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59224" y="179222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88408" y="1719072"/>
            <a:ext cx="2749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阶段二：分步评测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逐步判断动作完成情况、得分与证据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47432" y="199339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93736" y="1600200"/>
            <a:ext cx="3316224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21752" y="1746504"/>
            <a:ext cx="256032" cy="256032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21752" y="179222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50936" y="1719072"/>
            <a:ext cx="2749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阶段三：全局校验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综合检查顺序依赖与整体合理性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8680" y="2926080"/>
            <a:ext cx="4892040" cy="2240280"/>
          </a:xfrm>
          <a:prstGeom prst="roundRect">
            <a:avLst>
              <a:gd name="adj" fmla="val 3265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4984" y="3035808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模型输出内容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78992" y="341985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43584" y="3346704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是否通过（passed）</a:t>
            </a:r>
            <a:endParaRPr lang="en-US" sz="1110" dirty="0"/>
          </a:p>
        </p:txBody>
      </p:sp>
      <p:sp>
        <p:nvSpPr>
          <p:cNvPr id="26" name="Shape 24"/>
          <p:cNvSpPr/>
          <p:nvPr/>
        </p:nvSpPr>
        <p:spPr>
          <a:xfrm>
            <a:off x="1078992" y="3767328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43584" y="3694176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综合得分（score）</a:t>
            </a:r>
            <a:endParaRPr lang="en-US" sz="1110" dirty="0"/>
          </a:p>
        </p:txBody>
      </p:sp>
      <p:sp>
        <p:nvSpPr>
          <p:cNvPr id="28" name="Shape 26"/>
          <p:cNvSpPr/>
          <p:nvPr/>
        </p:nvSpPr>
        <p:spPr>
          <a:xfrm>
            <a:off x="1078992" y="411480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43584" y="4041648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综合反馈（feedback）</a:t>
            </a:r>
            <a:endParaRPr lang="en-US" sz="1110" dirty="0"/>
          </a:p>
        </p:txBody>
      </p:sp>
      <p:sp>
        <p:nvSpPr>
          <p:cNvPr id="30" name="Shape 28"/>
          <p:cNvSpPr/>
          <p:nvPr/>
        </p:nvSpPr>
        <p:spPr>
          <a:xfrm>
            <a:off x="1078992" y="446227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43584" y="4389120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问题标签列表（issues）</a:t>
            </a:r>
            <a:endParaRPr lang="en-US" sz="1110" dirty="0"/>
          </a:p>
        </p:txBody>
      </p:sp>
      <p:sp>
        <p:nvSpPr>
          <p:cNvPr id="32" name="Shape 30"/>
          <p:cNvSpPr/>
          <p:nvPr/>
        </p:nvSpPr>
        <p:spPr>
          <a:xfrm>
            <a:off x="1078992" y="480974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43584" y="4736592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步骤级结果（stepResults）与证据说明</a:t>
            </a:r>
            <a:endParaRPr lang="en-US" sz="1110" dirty="0"/>
          </a:p>
        </p:txBody>
      </p:sp>
      <p:sp>
        <p:nvSpPr>
          <p:cNvPr id="34" name="Shape 32"/>
          <p:cNvSpPr/>
          <p:nvPr/>
        </p:nvSpPr>
        <p:spPr>
          <a:xfrm>
            <a:off x="6053328" y="2926080"/>
            <a:ext cx="5056632" cy="2240280"/>
          </a:xfrm>
          <a:prstGeom prst="roundRect">
            <a:avLst>
              <a:gd name="adj" fmla="val 3265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9632" y="3035808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后处理规则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3419856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46704"/>
            <a:ext cx="4425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结合步骤权重重新计算综合分</a:t>
            </a:r>
            <a:endParaRPr lang="en-US" sz="1110" dirty="0"/>
          </a:p>
        </p:txBody>
      </p:sp>
      <p:sp>
        <p:nvSpPr>
          <p:cNvPr id="38" name="Shape 36"/>
          <p:cNvSpPr/>
          <p:nvPr/>
        </p:nvSpPr>
        <p:spPr>
          <a:xfrm>
            <a:off x="6263640" y="3767328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28232" y="3694176"/>
            <a:ext cx="4425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对条件步骤和可选步骤进行适用性判断</a:t>
            </a:r>
            <a:endParaRPr lang="en-US" sz="1110" dirty="0"/>
          </a:p>
        </p:txBody>
      </p:sp>
      <p:sp>
        <p:nvSpPr>
          <p:cNvPr id="40" name="Shape 38"/>
          <p:cNvSpPr/>
          <p:nvPr/>
        </p:nvSpPr>
        <p:spPr>
          <a:xfrm>
            <a:off x="6263640" y="4114800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28232" y="4041648"/>
            <a:ext cx="4425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检查前置依赖是否被违反</a:t>
            </a:r>
            <a:endParaRPr lang="en-US" sz="1110" dirty="0"/>
          </a:p>
        </p:txBody>
      </p:sp>
      <p:sp>
        <p:nvSpPr>
          <p:cNvPr id="42" name="Shape 40"/>
          <p:cNvSpPr/>
          <p:nvPr/>
        </p:nvSpPr>
        <p:spPr>
          <a:xfrm>
            <a:off x="6263640" y="4462272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28232" y="4389120"/>
            <a:ext cx="4425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根据问题类型实施差异化扣分</a:t>
            </a:r>
            <a:endParaRPr lang="en-US" sz="1110" dirty="0"/>
          </a:p>
        </p:txBody>
      </p:sp>
      <p:sp>
        <p:nvSpPr>
          <p:cNvPr id="44" name="Shape 42"/>
          <p:cNvSpPr/>
          <p:nvPr/>
        </p:nvSpPr>
        <p:spPr>
          <a:xfrm>
            <a:off x="6263640" y="4809744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28232" y="4736592"/>
            <a:ext cx="4425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给出最终通过 / 未通过结论</a:t>
            </a:r>
            <a:endParaRPr lang="en-US" sz="1110" dirty="0"/>
          </a:p>
        </p:txBody>
      </p:sp>
      <p:sp>
        <p:nvSpPr>
          <p:cNvPr id="46" name="Shape 44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9975" y="164592"/>
            <a:ext cx="1783080" cy="1783080"/>
          </a:xfrm>
          <a:prstGeom prst="ellipse">
            <a:avLst/>
          </a:prstGeom>
          <a:solidFill>
            <a:srgbClr val="D8E8FF">
              <a:alpha val="85000"/>
            </a:srgbClr>
          </a:solidFill>
          <a:ln w="12700">
            <a:solidFill>
              <a:srgbClr val="D8E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303520"/>
            <a:ext cx="1143000" cy="1143000"/>
          </a:xfrm>
          <a:prstGeom prst="ellipse">
            <a:avLst/>
          </a:prstGeom>
          <a:solidFill>
            <a:srgbClr val="E8F0FF">
              <a:alpha val="90000"/>
            </a:srgbClr>
          </a:solidFill>
          <a:ln w="12700">
            <a:solidFill>
              <a:srgbClr val="E8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核心功能实现（五）异步任务、历史记录与结果闭环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针对视频评测耗时较长的特点，引入任务队列与历史留痕机制。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1389888"/>
            <a:ext cx="10241280" cy="1143000"/>
          </a:xfrm>
          <a:prstGeom prst="roundRect">
            <a:avLst>
              <a:gd name="adj" fmla="val 6400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1499616"/>
            <a:ext cx="994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异步任务机制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1810512"/>
            <a:ext cx="183977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25296" y="1956816"/>
            <a:ext cx="256032" cy="25603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2002536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54480" y="1929384"/>
            <a:ext cx="127284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用户上传执行视频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37053" y="2203704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83357" y="1810512"/>
            <a:ext cx="1839773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11373" y="1956816"/>
            <a:ext cx="256032" cy="25603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11373" y="2002536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40557" y="1929384"/>
            <a:ext cx="127284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系统创建 evaluation_job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23130" y="2203704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69434" y="1810512"/>
            <a:ext cx="183977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97450" y="1956816"/>
            <a:ext cx="256032" cy="256032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97450" y="2002536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26634" y="1929384"/>
            <a:ext cx="127284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轮询并处理任务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09206" y="2203704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55510" y="1810512"/>
            <a:ext cx="1839773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83526" y="1956816"/>
            <a:ext cx="256032" cy="256032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83526" y="2002536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12710" y="1929384"/>
            <a:ext cx="127284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前端轮询状态与日志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895283" y="2203704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41587" y="1810512"/>
            <a:ext cx="183977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69603" y="1956816"/>
            <a:ext cx="256032" cy="256032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69603" y="2002536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498787" y="1929384"/>
            <a:ext cx="127284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完成后写入历史记录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68680" y="2880360"/>
            <a:ext cx="4937760" cy="2331720"/>
          </a:xfrm>
          <a:prstGeom prst="roundRect">
            <a:avLst>
              <a:gd name="adj" fmla="val 3137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4984" y="2990088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用户端已实现能力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78992" y="3383280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43584" y="3310128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查看待执行 SOP 列表并进入执行页面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078992" y="3822192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43584" y="374904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上传完整执行视频并提交评测任务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1078992" y="4261104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43584" y="4187952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查看任务进度、日志、失败原因与重试状态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1078992" y="4700016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43584" y="4626864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查看历史记录中的评测结果和人工复核结论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144768" y="2880360"/>
            <a:ext cx="4965192" cy="2331720"/>
          </a:xfrm>
          <a:prstGeom prst="roundRect">
            <a:avLst>
              <a:gd name="adj" fmla="val 3137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91072" y="2990088"/>
            <a:ext cx="4672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结果展示特点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55080" y="3383280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9672" y="3310128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结果页展示总分、问题标签和步骤级证据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355080" y="3822192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19672" y="374904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支持时间轴与评测过程展开显示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355080" y="4261104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19672" y="4187952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支持查看 Token 使用与多阶段模型响应摘要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355080" y="4700016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19672" y="4626864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增强评测结果的可解释性与可追溯性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9975" y="164592"/>
            <a:ext cx="1783080" cy="1783080"/>
          </a:xfrm>
          <a:prstGeom prst="ellipse">
            <a:avLst/>
          </a:prstGeom>
          <a:solidFill>
            <a:srgbClr val="D8E8FF">
              <a:alpha val="85000"/>
            </a:srgbClr>
          </a:solidFill>
          <a:ln w="12700">
            <a:solidFill>
              <a:srgbClr val="D8E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303520"/>
            <a:ext cx="1143000" cy="1143000"/>
          </a:xfrm>
          <a:prstGeom prst="ellipse">
            <a:avLst/>
          </a:prstGeom>
          <a:solidFill>
            <a:srgbClr val="E8F0FF">
              <a:alpha val="90000"/>
            </a:srgbClr>
          </a:solidFill>
          <a:ln w="12700">
            <a:solidFill>
              <a:srgbClr val="E8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核心功能实现（六）统计分析与人工复核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管理员端不仅能查看结果，还能进行复核与统计分析。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96112" y="141732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417320"/>
            <a:ext cx="73152" cy="9601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55448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维度统计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60704" y="1984248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执行次数 / 通过率 / 平均分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55848" y="141732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5848" y="1417320"/>
            <a:ext cx="73152" cy="960120"/>
          </a:xfrm>
          <a:prstGeom prst="rect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55448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问题类型统计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20440" y="1984248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识别高频异常类型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15584" y="141732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15584" y="1417320"/>
            <a:ext cx="73152" cy="960120"/>
          </a:xfrm>
          <a:prstGeom prst="rect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0176" y="155448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980176" y="1984248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/ 不通过 / 需整改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75320" y="141732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1417320"/>
            <a:ext cx="73152" cy="960120"/>
          </a:xfrm>
          <a:prstGeom prst="rect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39912" y="155448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过程展示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439912" y="1984248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查看多阶段提示与响应摘要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6112" y="2743200"/>
            <a:ext cx="4983480" cy="2377440"/>
          </a:xfrm>
          <a:prstGeom prst="roundRect">
            <a:avLst>
              <a:gd name="adj" fmla="val 3077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285292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统计分析价值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15568" y="325526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0160" y="3182112"/>
            <a:ext cx="4361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从单次结果扩展到 SOP 维度、问题维度和整体维度分析</a:t>
            </a:r>
            <a:endParaRPr lang="en-US" sz="1140" dirty="0"/>
          </a:p>
        </p:txBody>
      </p:sp>
      <p:sp>
        <p:nvSpPr>
          <p:cNvPr id="28" name="Shape 26"/>
          <p:cNvSpPr/>
          <p:nvPr/>
        </p:nvSpPr>
        <p:spPr>
          <a:xfrm>
            <a:off x="1115568" y="374904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0" y="3675888"/>
            <a:ext cx="4361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帮助识别高频异常步骤，为后续教学或培训提供依据</a:t>
            </a:r>
            <a:endParaRPr lang="en-US" sz="1140" dirty="0"/>
          </a:p>
        </p:txBody>
      </p:sp>
      <p:sp>
        <p:nvSpPr>
          <p:cNvPr id="30" name="Shape 28"/>
          <p:cNvSpPr/>
          <p:nvPr/>
        </p:nvSpPr>
        <p:spPr>
          <a:xfrm>
            <a:off x="1115568" y="424281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4169664"/>
            <a:ext cx="4361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支持管理者从“个体评测”走向“流程优化”</a:t>
            </a:r>
            <a:endParaRPr lang="en-US" sz="1140" dirty="0"/>
          </a:p>
        </p:txBody>
      </p:sp>
      <p:sp>
        <p:nvSpPr>
          <p:cNvPr id="32" name="Shape 30"/>
          <p:cNvSpPr/>
          <p:nvPr/>
        </p:nvSpPr>
        <p:spPr>
          <a:xfrm>
            <a:off x="6126480" y="2743200"/>
            <a:ext cx="4983480" cy="2377440"/>
          </a:xfrm>
          <a:prstGeom prst="roundRect">
            <a:avLst>
              <a:gd name="adj" fmla="val 3077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285292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人工复核价值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45936" y="3255264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0528" y="3182112"/>
            <a:ext cx="4361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避免完全依赖模型单次判断，保留人工决策入口</a:t>
            </a:r>
            <a:endParaRPr lang="en-US" sz="1140" dirty="0"/>
          </a:p>
        </p:txBody>
      </p:sp>
      <p:sp>
        <p:nvSpPr>
          <p:cNvPr id="36" name="Shape 34"/>
          <p:cNvSpPr/>
          <p:nvPr/>
        </p:nvSpPr>
        <p:spPr>
          <a:xfrm>
            <a:off x="6345936" y="3749040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0528" y="3675888"/>
            <a:ext cx="4361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支持对关键记录进行通过 / 不通过 / 需整改处理</a:t>
            </a:r>
            <a:endParaRPr lang="en-US" sz="1140" dirty="0"/>
          </a:p>
        </p:txBody>
      </p:sp>
      <p:sp>
        <p:nvSpPr>
          <p:cNvPr id="38" name="Shape 36"/>
          <p:cNvSpPr/>
          <p:nvPr/>
        </p:nvSpPr>
        <p:spPr>
          <a:xfrm>
            <a:off x="6345936" y="4242816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10528" y="4169664"/>
            <a:ext cx="4361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 AI 判断与人工确认相结合的结果闭环</a:t>
            </a:r>
            <a:endParaRPr lang="en-US" sz="1140" dirty="0"/>
          </a:p>
        </p:txBody>
      </p:sp>
      <p:sp>
        <p:nvSpPr>
          <p:cNvPr id="40" name="Shape 38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9975" y="164592"/>
            <a:ext cx="1783080" cy="1783080"/>
          </a:xfrm>
          <a:prstGeom prst="ellipse">
            <a:avLst/>
          </a:prstGeom>
          <a:solidFill>
            <a:srgbClr val="D8E8FF">
              <a:alpha val="85000"/>
            </a:srgbClr>
          </a:solidFill>
          <a:ln w="12700">
            <a:solidFill>
              <a:srgbClr val="D8E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303520"/>
            <a:ext cx="1143000" cy="1143000"/>
          </a:xfrm>
          <a:prstGeom prst="ellipse">
            <a:avLst/>
          </a:prstGeom>
          <a:solidFill>
            <a:srgbClr val="E8F0FF">
              <a:alpha val="90000"/>
            </a:srgbClr>
          </a:solidFill>
          <a:ln w="12700">
            <a:solidFill>
              <a:srgbClr val="E8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数据层围绕“用户—SOP—任务—执行—复核”建立完整关联。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1554480"/>
            <a:ext cx="2103120" cy="3611880"/>
          </a:xfrm>
          <a:prstGeom prst="roundRect">
            <a:avLst>
              <a:gd name="adj" fmla="val 3478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166420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用户与会话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33272" y="1847088"/>
            <a:ext cx="859536" cy="292608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189280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用户与会话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33272" y="2240280"/>
            <a:ext cx="1773936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359152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1033272" y="2862072"/>
            <a:ext cx="1773936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980944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user_login_sessions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3108960" y="1554480"/>
            <a:ext cx="2103120" cy="3611880"/>
          </a:xfrm>
          <a:prstGeom prst="roundRect">
            <a:avLst>
              <a:gd name="adj" fmla="val 3478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55264" y="166420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定义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73552" y="1847088"/>
            <a:ext cx="859536" cy="292608"/>
          </a:xfrm>
          <a:prstGeom prst="roundRect">
            <a:avLst>
              <a:gd name="adj" fmla="val 25000"/>
            </a:avLst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46704" y="189280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定义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73552" y="2240280"/>
            <a:ext cx="1773936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359152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sops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3273552" y="2862072"/>
            <a:ext cx="1773936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980944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sop_steps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3273552" y="3483864"/>
            <a:ext cx="1773936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602736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sop_step_prerequisites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5742432" y="1554480"/>
            <a:ext cx="2103120" cy="3611880"/>
          </a:xfrm>
          <a:prstGeom prst="roundRect">
            <a:avLst>
              <a:gd name="adj" fmla="val 3478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88736" y="166420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媒体资源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07024" y="1847088"/>
            <a:ext cx="859536" cy="292608"/>
          </a:xfrm>
          <a:prstGeom prst="roundRect">
            <a:avLst>
              <a:gd name="adj" fmla="val 25000"/>
            </a:avLst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0176" y="189280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媒体资源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07024" y="2240280"/>
            <a:ext cx="1773936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16752" y="2359152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media_files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5907024" y="2862072"/>
            <a:ext cx="1773936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16752" y="2980944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sop_step_keyframes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5907024" y="3483864"/>
            <a:ext cx="1773936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16752" y="3602736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sop_step_substeps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8458200" y="1554480"/>
            <a:ext cx="2103120" cy="3611880"/>
          </a:xfrm>
          <a:prstGeom prst="roundRect">
            <a:avLst>
              <a:gd name="adj" fmla="val 3478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04504" y="166420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评测与结果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622792" y="1847088"/>
            <a:ext cx="859536" cy="292608"/>
          </a:xfrm>
          <a:prstGeom prst="roundRect">
            <a:avLst>
              <a:gd name="adj" fmla="val 25000"/>
            </a:avLst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95944" y="189280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评测与结果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622792" y="2240280"/>
            <a:ext cx="1773936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32520" y="2359152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evaluation_jobs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8622792" y="2862072"/>
            <a:ext cx="1773936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32520" y="2980944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sop_executions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8622792" y="3483864"/>
            <a:ext cx="1773936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32520" y="3602736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execution_step_results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8622792" y="4105656"/>
            <a:ext cx="1773936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32520" y="4224528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manual_reviews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868680" y="5413248"/>
            <a:ext cx="10241280" cy="658368"/>
          </a:xfrm>
          <a:prstGeom prst="roundRect">
            <a:avLst>
              <a:gd name="adj" fmla="val 11111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14984" y="5522976"/>
            <a:ext cx="994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设计特点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78992" y="5614416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数据库设计不仅满足基础业务存储，还保留了任务日志、步骤级结果、问题列表、人工复核等信息，便于后续统计分析与结果追溯。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9975" y="164592"/>
            <a:ext cx="1783080" cy="1783080"/>
          </a:xfrm>
          <a:prstGeom prst="ellipse">
            <a:avLst/>
          </a:prstGeom>
          <a:solidFill>
            <a:srgbClr val="D8E8FF">
              <a:alpha val="85000"/>
            </a:srgbClr>
          </a:solidFill>
          <a:ln w="12700">
            <a:solidFill>
              <a:srgbClr val="D8E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303520"/>
            <a:ext cx="1143000" cy="1143000"/>
          </a:xfrm>
          <a:prstGeom prst="ellipse">
            <a:avLst/>
          </a:prstGeom>
          <a:solidFill>
            <a:srgbClr val="E8F0FF">
              <a:alpha val="90000"/>
            </a:srgbClr>
          </a:solidFill>
          <a:ln w="12700">
            <a:solidFill>
              <a:srgbClr val="E8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系统特点与阶段性创新点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相较于单纯的表单系统或单次模型调用，本项目强调流程闭环与评测可解释性。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3272" y="1545336"/>
            <a:ext cx="566928" cy="5669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09928" y="1581912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整段示范视频建模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33272" y="2221992"/>
            <a:ext cx="30083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管理员上传完整流程视频后，系统自动提取步骤级参考信息，避免逐步维护多个短视频片段。</a:t>
            </a:r>
            <a:endParaRPr lang="en-US" sz="1017" dirty="0"/>
          </a:p>
        </p:txBody>
      </p:sp>
      <p:sp>
        <p:nvSpPr>
          <p:cNvPr id="12" name="Shape 9"/>
          <p:cNvSpPr/>
          <p:nvPr/>
        </p:nvSpPr>
        <p:spPr>
          <a:xfrm>
            <a:off x="4434840" y="141732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9432" y="1545336"/>
            <a:ext cx="566928" cy="5669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76088" y="1581912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多阶段评测链路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599432" y="2221992"/>
            <a:ext cx="30083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将时序定位、步骤判定和全局顺序校验分离处理，提高复杂流程场景下的分析能力与可控性。</a:t>
            </a:r>
            <a:endParaRPr lang="en-US" sz="1017" dirty="0"/>
          </a:p>
        </p:txBody>
      </p:sp>
      <p:sp>
        <p:nvSpPr>
          <p:cNvPr id="16" name="Shape 12"/>
          <p:cNvSpPr/>
          <p:nvPr/>
        </p:nvSpPr>
        <p:spPr>
          <a:xfrm>
            <a:off x="8001000" y="1417320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65592" y="1545336"/>
            <a:ext cx="566928" cy="5669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42248" y="1581912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结果可解释展示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165592" y="2221992"/>
            <a:ext cx="27797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记录步骤证据、过程摘要与任务日志，增强评测结果的可追溯性和人工复核价值。</a:t>
            </a:r>
            <a:endParaRPr lang="en-US" sz="1017" dirty="0"/>
          </a:p>
        </p:txBody>
      </p:sp>
      <p:sp>
        <p:nvSpPr>
          <p:cNvPr id="20" name="Shape 15"/>
          <p:cNvSpPr/>
          <p:nvPr/>
        </p:nvSpPr>
        <p:spPr>
          <a:xfrm>
            <a:off x="868680" y="3611880"/>
            <a:ext cx="10241280" cy="1691640"/>
          </a:xfrm>
          <a:prstGeom prst="roundRect">
            <a:avLst>
              <a:gd name="adj" fmla="val 4324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14984" y="3721608"/>
            <a:ext cx="994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与传统方式相比的改进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1078992" y="4041648"/>
            <a:ext cx="3163824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207008" y="4187952"/>
            <a:ext cx="256032" cy="25603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207008" y="423367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536192" y="4160520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从“人工观察 + 主观判断”转向“视频留痕 + 结构化评测”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242816" y="4434840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389120" y="4041648"/>
            <a:ext cx="3163824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517136" y="4187952"/>
            <a:ext cx="256032" cy="256032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517136" y="423367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4846320" y="4160520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从“单次打分”转向“任务、步骤、问题类型多维结果沉淀”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7552944" y="4434840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699248" y="4041648"/>
            <a:ext cx="3163824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827264" y="4187952"/>
            <a:ext cx="256032" cy="256032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7827264" y="423367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8156448" y="4160520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从“黑盒结论”转向“可查看过程、证据与复核意见的结果呈现”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9975" y="164592"/>
            <a:ext cx="1783080" cy="1783080"/>
          </a:xfrm>
          <a:prstGeom prst="ellipse">
            <a:avLst/>
          </a:prstGeom>
          <a:solidFill>
            <a:srgbClr val="D8E8FF">
              <a:alpha val="85000"/>
            </a:srgbClr>
          </a:solidFill>
          <a:ln w="12700">
            <a:solidFill>
              <a:srgbClr val="D8E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303520"/>
            <a:ext cx="1143000" cy="1143000"/>
          </a:xfrm>
          <a:prstGeom prst="ellipse">
            <a:avLst/>
          </a:prstGeom>
          <a:solidFill>
            <a:srgbClr val="E8F0FF">
              <a:alpha val="90000"/>
            </a:srgbClr>
          </a:solidFill>
          <a:ln w="12700">
            <a:solidFill>
              <a:srgbClr val="E8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阶段性成果总结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中期阶段已经完成从需求到核心功能落地的主体工作。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5120640" cy="3977640"/>
          </a:xfrm>
          <a:prstGeom prst="roundRect">
            <a:avLst>
              <a:gd name="adj" fmla="val 1839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1527048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已取得的阶段成果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78992" y="194767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1874520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完成系统总体架构设计与前后端分离实现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1078992" y="245973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2386584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实现管理员端、用户端与后端接口的主要业务联调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1078992" y="297180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2898648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完成示范视频预处理、多阶段 AI 评测与结果后处理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1078992" y="348386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3410712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实现异步任务、历史记录、统计分析和人工复核闭环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1078992" y="3995928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43584" y="3922776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后端已具备较完整的回归测试基础，说明核心逻辑已形成稳定框架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6291072" y="1417320"/>
            <a:ext cx="4818888" cy="3977640"/>
          </a:xfrm>
          <a:prstGeom prst="roundRect">
            <a:avLst>
              <a:gd name="adj" fmla="val 1839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1527048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中期阶段结论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1874520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当前项目已经达到“系统主体可运行、核心流程可演示、关键结果可展示”的中期检查要求。下一阶段重点不再是从零搭建功能，而是围绕评测效果、场景泛化与结果表达继续优化。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3035808"/>
            <a:ext cx="1234440" cy="841248"/>
          </a:xfrm>
          <a:prstGeom prst="roundRect">
            <a:avLst>
              <a:gd name="adj" fmla="val 8696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3035808"/>
            <a:ext cx="73152" cy="841248"/>
          </a:xfrm>
          <a:prstGeom prst="rect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02552" y="317296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主体完成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02552" y="3602736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系统结构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73568" y="3035808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73568" y="3035808"/>
            <a:ext cx="73152" cy="84124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3172968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链路打通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138160" y="3602736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业务流程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582912" y="3035808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82912" y="3035808"/>
            <a:ext cx="73152" cy="841248"/>
          </a:xfrm>
          <a:prstGeom prst="rect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47504" y="31729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待优化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747504" y="3602736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评测效果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9975" y="164592"/>
            <a:ext cx="1783080" cy="1783080"/>
          </a:xfrm>
          <a:prstGeom prst="ellipse">
            <a:avLst/>
          </a:prstGeom>
          <a:solidFill>
            <a:srgbClr val="D8E8FF">
              <a:alpha val="85000"/>
            </a:srgbClr>
          </a:solidFill>
          <a:ln w="12700">
            <a:solidFill>
              <a:srgbClr val="D8E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303520"/>
            <a:ext cx="1143000" cy="1143000"/>
          </a:xfrm>
          <a:prstGeom prst="ellipse">
            <a:avLst/>
          </a:prstGeom>
          <a:solidFill>
            <a:srgbClr val="E8F0FF">
              <a:alpha val="90000"/>
            </a:srgbClr>
          </a:solidFill>
          <a:ln w="12700">
            <a:solidFill>
              <a:srgbClr val="E8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当前存在的核心问题（一）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问题聚焦于评测效果本身，而非边缘工程事项。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5029200" cy="4297680"/>
          </a:xfrm>
          <a:prstGeom prst="roundRect">
            <a:avLst>
              <a:gd name="adj" fmla="val 17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1527048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1：评测结果稳定性仍不足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78992" y="1975104"/>
            <a:ext cx="91440" cy="9144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1901952"/>
            <a:ext cx="4407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不同拍摄角度、光照、遮挡和清晰度条件下，同一动作的判断结果仍可能波动。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1078992" y="2542032"/>
            <a:ext cx="91440" cy="9144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2468880"/>
            <a:ext cx="4407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大模型对细微动作和局部差异较敏感，导致评分一致性仍需加强。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1078992" y="3108960"/>
            <a:ext cx="91440" cy="9144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3035808"/>
            <a:ext cx="4407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当用户视频质量下降时，步骤证据与最终结论的可靠性会受到影响。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108192" y="1417320"/>
            <a:ext cx="5001768" cy="4297680"/>
          </a:xfrm>
          <a:prstGeom prst="roundRect">
            <a:avLst>
              <a:gd name="adj" fmla="val 17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527048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2：复杂时序动作识别难度较高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27648" y="1975104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901952"/>
            <a:ext cx="4361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对于顺序依赖强、持续时间短、步骤衔接紧密的 SOP，步骤定位仍可能偏差。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6327648" y="2542032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468880"/>
            <a:ext cx="4361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当多个动作在时间上紧邻出现时，系统难以稳定区分“漏做、错做、先后顺序错误”等情况。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327648" y="3108960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035808"/>
            <a:ext cx="4361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前置依赖判断虽然已接入规则校验，但时序定位误差会继续影响最终判定精度。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9975" y="164592"/>
            <a:ext cx="1783080" cy="1783080"/>
          </a:xfrm>
          <a:prstGeom prst="ellipse">
            <a:avLst/>
          </a:prstGeom>
          <a:solidFill>
            <a:srgbClr val="D8E8FF">
              <a:alpha val="85000"/>
            </a:srgbClr>
          </a:solidFill>
          <a:ln w="12700">
            <a:solidFill>
              <a:srgbClr val="D8E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303520"/>
            <a:ext cx="1143000" cy="1143000"/>
          </a:xfrm>
          <a:prstGeom prst="ellipse">
            <a:avLst/>
          </a:prstGeom>
          <a:solidFill>
            <a:srgbClr val="E8F0FF">
              <a:alpha val="90000"/>
            </a:srgbClr>
          </a:solidFill>
          <a:ln w="12700">
            <a:solidFill>
              <a:srgbClr val="E8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当前存在的核心问题（二）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中期阶段的重点不是“有没有功能”，而是“功能效果还能如何提升”。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3272" y="1545336"/>
            <a:ext cx="566928" cy="5669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09928" y="1581912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示范视频到标准步骤的映射仍不够精细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33272" y="2221992"/>
            <a:ext cx="291693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当前主要依赖完整流程视频自动切分生成参考信息，但部分步骤边界不明显，参考帧、关键时刻和 ROI 的质量仍有提升空间。</a:t>
            </a:r>
            <a:endParaRPr lang="en-US" sz="1017" dirty="0"/>
          </a:p>
        </p:txBody>
      </p:sp>
      <p:sp>
        <p:nvSpPr>
          <p:cNvPr id="12" name="Shape 9"/>
          <p:cNvSpPr/>
          <p:nvPr/>
        </p:nvSpPr>
        <p:spPr>
          <a:xfrm>
            <a:off x="4370832" y="141732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5424" y="1545336"/>
            <a:ext cx="566928" cy="5669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1581912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系统场景泛化能力仍有待提升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535424" y="2221992"/>
            <a:ext cx="291693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目前系统已能覆盖既定场景的 SOP 评测，但当操作对象、拍摄环境或流程类型变化较大时，模型适应性仍需增强。</a:t>
            </a:r>
            <a:endParaRPr lang="en-US" sz="1017" dirty="0"/>
          </a:p>
        </p:txBody>
      </p:sp>
      <p:sp>
        <p:nvSpPr>
          <p:cNvPr id="16" name="Shape 12"/>
          <p:cNvSpPr/>
          <p:nvPr/>
        </p:nvSpPr>
        <p:spPr>
          <a:xfrm>
            <a:off x="7863840" y="141732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8432" y="1545336"/>
            <a:ext cx="566928" cy="5669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05088" y="1581912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评测解释性与可复核性仍需加强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028432" y="2221992"/>
            <a:ext cx="291693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虽然已输出得分、问题类型和证据文本，但“错在哪里、为什么错、如何改进”仍可以做得更直观。</a:t>
            </a:r>
            <a:endParaRPr lang="en-US" sz="1017" dirty="0"/>
          </a:p>
        </p:txBody>
      </p:sp>
      <p:sp>
        <p:nvSpPr>
          <p:cNvPr id="20" name="Shape 15"/>
          <p:cNvSpPr/>
          <p:nvPr/>
        </p:nvSpPr>
        <p:spPr>
          <a:xfrm>
            <a:off x="868680" y="3794760"/>
            <a:ext cx="10241280" cy="1417320"/>
          </a:xfrm>
          <a:prstGeom prst="roundRect">
            <a:avLst>
              <a:gd name="adj" fmla="val 5161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14984" y="3904488"/>
            <a:ext cx="994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问题归纳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078992" y="4160520"/>
            <a:ext cx="9802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上述问题说明：项目中后期的重点将从“功能搭建”转向“效果优化”。核心任务是继续缩小参考建模与真实执行之间的差距，提升系统在复杂流程和多场景下的评测准确性与可解释性。</a:t>
            </a:r>
            <a:endParaRPr lang="en-US" sz="1120" dirty="0"/>
          </a:p>
        </p:txBody>
      </p:sp>
      <p:sp>
        <p:nvSpPr>
          <p:cNvPr id="23" name="Shape 18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9975" y="164592"/>
            <a:ext cx="1783080" cy="1783080"/>
          </a:xfrm>
          <a:prstGeom prst="ellipse">
            <a:avLst/>
          </a:prstGeom>
          <a:solidFill>
            <a:srgbClr val="D8E8FF">
              <a:alpha val="85000"/>
            </a:srgbClr>
          </a:solidFill>
          <a:ln w="12700">
            <a:solidFill>
              <a:srgbClr val="D8E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303520"/>
            <a:ext cx="1143000" cy="1143000"/>
          </a:xfrm>
          <a:prstGeom prst="ellipse">
            <a:avLst/>
          </a:prstGeom>
          <a:solidFill>
            <a:srgbClr val="E8F0FF">
              <a:alpha val="90000"/>
            </a:srgbClr>
          </a:solidFill>
          <a:ln w="12700">
            <a:solidFill>
              <a:srgbClr val="E8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改进措施与下一步计划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下一阶段将围绕模型判定效果、参考建模质量和结果表达能力继续推进。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164592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6696" y="1792224"/>
            <a:ext cx="256032" cy="25603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183794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25880" y="176479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优化评测提示词与判定规则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99893" y="203911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46197" y="164592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74213" y="1792224"/>
            <a:ext cx="256032" cy="256032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74213" y="183794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03397" y="176479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增强时序分析能力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77410" y="203911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3714" y="164592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51730" y="1792224"/>
            <a:ext cx="256032" cy="256032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51730" y="183794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0914" y="176479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改进参考信息生成方式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954926" y="203911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01230" y="164592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9246" y="1792224"/>
            <a:ext cx="256032" cy="256032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9246" y="183794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58430" y="176479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扩展多场景样本与 SOP 类型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032443" y="203911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78747" y="164592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06763" y="1792224"/>
            <a:ext cx="256032" cy="256032"/>
          </a:xfrm>
          <a:prstGeom prst="ellipse">
            <a:avLst/>
          </a:prstGeom>
          <a:solidFill>
            <a:srgbClr val="113A8F"/>
          </a:solidFill>
          <a:ln w="12700">
            <a:solidFill>
              <a:srgbClr val="113A8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06763" y="183794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635947" y="176479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强化结果展示与反馈能力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2880360"/>
            <a:ext cx="10241280" cy="2331720"/>
          </a:xfrm>
          <a:prstGeom prst="roundRect">
            <a:avLst>
              <a:gd name="adj" fmla="val 3137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4984" y="2990088"/>
            <a:ext cx="994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具体计划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78992" y="334670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43584" y="3273552"/>
            <a:ext cx="9619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针对易混淆步骤补充更明确的动作描述、顺序约束和异常判定规则，提高评测一致性。</a:t>
            </a:r>
            <a:endParaRPr lang="en-US" sz="1110" dirty="0"/>
          </a:p>
        </p:txBody>
      </p:sp>
      <p:sp>
        <p:nvSpPr>
          <p:cNvPr id="36" name="Shape 34"/>
          <p:cNvSpPr/>
          <p:nvPr/>
        </p:nvSpPr>
        <p:spPr>
          <a:xfrm>
            <a:off x="1078992" y="374904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43584" y="3675888"/>
            <a:ext cx="9619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继续优化短时动作、相邻步骤和前置依赖步骤的定位能力，提升复杂 SOP 识别效果。</a:t>
            </a:r>
            <a:endParaRPr lang="en-US" sz="1110" dirty="0"/>
          </a:p>
        </p:txBody>
      </p:sp>
      <p:sp>
        <p:nvSpPr>
          <p:cNvPr id="38" name="Shape 36"/>
          <p:cNvSpPr/>
          <p:nvPr/>
        </p:nvSpPr>
        <p:spPr>
          <a:xfrm>
            <a:off x="1078992" y="415137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43584" y="4078224"/>
            <a:ext cx="9619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优化关键帧、关键时刻和 ROI 提取策略，并预留人工微调入口，提高标准参考质量。</a:t>
            </a:r>
            <a:endParaRPr lang="en-US" sz="1110" dirty="0"/>
          </a:p>
        </p:txBody>
      </p:sp>
      <p:sp>
        <p:nvSpPr>
          <p:cNvPr id="40" name="Shape 38"/>
          <p:cNvSpPr/>
          <p:nvPr/>
        </p:nvSpPr>
        <p:spPr>
          <a:xfrm>
            <a:off x="1078992" y="455371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43584" y="4480560"/>
            <a:ext cx="9619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增加更多拍摄环境和流程类型样本，逐步验证并提升系统泛化能力。</a:t>
            </a:r>
            <a:endParaRPr lang="en-US" sz="1110" dirty="0"/>
          </a:p>
        </p:txBody>
      </p:sp>
      <p:sp>
        <p:nvSpPr>
          <p:cNvPr id="42" name="Shape 40"/>
          <p:cNvSpPr/>
          <p:nvPr/>
        </p:nvSpPr>
        <p:spPr>
          <a:xfrm>
            <a:off x="1078992" y="4956048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43584" y="4882896"/>
            <a:ext cx="9619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将评测结果与时间轴、问题片段和改进建议建立更清晰的对应关系，提升可解释性。</a:t>
            </a:r>
            <a:endParaRPr lang="en-US" sz="1110" dirty="0"/>
          </a:p>
        </p:txBody>
      </p:sp>
      <p:sp>
        <p:nvSpPr>
          <p:cNvPr id="44" name="Shape 42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C3A"/>
          </a:solidFill>
          <a:ln w="12700">
            <a:solidFill>
              <a:srgbClr val="0C1C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AA7FF"/>
          </a:solidFill>
          <a:ln w="12700">
            <a:solidFill>
              <a:srgbClr val="3AA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9975" y="164592"/>
            <a:ext cx="1783080" cy="1783080"/>
          </a:xfrm>
          <a:prstGeom prst="ellipse">
            <a:avLst/>
          </a:prstGeom>
          <a:solidFill>
            <a:srgbClr val="17305F">
              <a:alpha val="85000"/>
            </a:srgbClr>
          </a:solidFill>
          <a:ln w="12700">
            <a:solidFill>
              <a:srgbClr val="17305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303520"/>
            <a:ext cx="1143000" cy="1143000"/>
          </a:xfrm>
          <a:prstGeom prst="ellipse">
            <a:avLst/>
          </a:prstGeom>
          <a:solidFill>
            <a:srgbClr val="183868">
              <a:alpha val="90000"/>
            </a:srgbClr>
          </a:solidFill>
          <a:ln w="12700">
            <a:solidFill>
              <a:srgbClr val="18386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中期总结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808" y="13258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项目已经完成系统主体搭建与核心流程实现，验证了“基于多模态视频理解的 SOP 自动评测”这一思路的可行性。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214884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133160"/>
          </a:solidFill>
          <a:ln w="12700">
            <a:solidFill>
              <a:srgbClr val="2F4F8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214884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133160"/>
          </a:solidFill>
          <a:ln w="12700">
            <a:solidFill>
              <a:srgbClr val="2F4F8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45552" y="214884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133160"/>
          </a:solidFill>
          <a:ln w="12700">
            <a:solidFill>
              <a:srgbClr val="2F4F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39572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C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阶段判断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32688" y="2788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系统主体功能已完成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32186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已具备中期检查展示条件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239572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C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后续重心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80560" y="2788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评测效果持续优化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80560" y="321868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聚焦时序识别、泛化和解释性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28432" y="239572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C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最终目标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28432" y="2697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形成可演示、可答辩、可论文支撑的完整成果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" y="57150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谢谢老师聆听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653796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60175" y="652881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毕业设计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基于视觉分析的标准操作流程（SOP）管理系统设计与实现</dc:title>
  <dc:subject>毕业设计中期检查</dc:subject>
  <dc:creator>OpenAI Codex</dc:creator>
  <cp:lastModifiedBy>OpenAI Codex</cp:lastModifiedBy>
  <cp:revision>1</cp:revision>
  <dcterms:created xsi:type="dcterms:W3CDTF">2026-04-12T13:52:16Z</dcterms:created>
  <dcterms:modified xsi:type="dcterms:W3CDTF">2026-04-12T13:52:16Z</dcterms:modified>
</cp:coreProperties>
</file>